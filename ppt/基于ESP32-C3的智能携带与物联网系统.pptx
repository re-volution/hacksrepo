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12192000"/>
  <p:embeddedFontLst>
    <p:embeddedFont>
      <p:font typeface="Noto Sans SC" panose="020B0200000000000000" pitchFamily="34" charset="-122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7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1130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26" Type="http://schemas.openxmlformats.org/officeDocument/2006/relationships/image" Target="../media/image39.png"/><Relationship Id="rId3" Type="http://schemas.openxmlformats.org/officeDocument/2006/relationships/image" Target="../media/image1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5" Type="http://schemas.openxmlformats.org/officeDocument/2006/relationships/image" Target="../media/image38.png"/><Relationship Id="rId3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29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32" Type="http://schemas.openxmlformats.org/officeDocument/2006/relationships/image" Target="../media/image45.png"/><Relationship Id="rId5" Type="http://schemas.openxmlformats.org/officeDocument/2006/relationships/image" Target="../media/image10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28" Type="http://schemas.openxmlformats.org/officeDocument/2006/relationships/image" Target="../media/image41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31" Type="http://schemas.openxmlformats.org/officeDocument/2006/relationships/image" Target="../media/image44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Relationship Id="rId27" Type="http://schemas.openxmlformats.org/officeDocument/2006/relationships/image" Target="../media/image40.png"/><Relationship Id="rId30" Type="http://schemas.openxmlformats.org/officeDocument/2006/relationships/image" Target="../media/image43.png"/><Relationship Id="rId8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image" Target="../media/image10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1.png"/><Relationship Id="rId21" Type="http://schemas.openxmlformats.org/officeDocument/2006/relationships/image" Target="../media/image74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10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9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18" Type="http://schemas.openxmlformats.org/officeDocument/2006/relationships/image" Target="../media/image87.png"/><Relationship Id="rId3" Type="http://schemas.openxmlformats.org/officeDocument/2006/relationships/image" Target="../media/image1.png"/><Relationship Id="rId21" Type="http://schemas.openxmlformats.org/officeDocument/2006/relationships/image" Target="../media/image90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8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5.png"/><Relationship Id="rId20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10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19" Type="http://schemas.openxmlformats.org/officeDocument/2006/relationships/image" Target="../media/image88.png"/><Relationship Id="rId4" Type="http://schemas.openxmlformats.org/officeDocument/2006/relationships/image" Target="../media/image9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Relationship Id="rId22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26" Type="http://schemas.openxmlformats.org/officeDocument/2006/relationships/image" Target="../media/image113.png"/><Relationship Id="rId21" Type="http://schemas.openxmlformats.org/officeDocument/2006/relationships/image" Target="../media/image108.png"/><Relationship Id="rId34" Type="http://schemas.openxmlformats.org/officeDocument/2006/relationships/image" Target="../media/image121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5" Type="http://schemas.openxmlformats.org/officeDocument/2006/relationships/image" Target="../media/image112.png"/><Relationship Id="rId33" Type="http://schemas.openxmlformats.org/officeDocument/2006/relationships/image" Target="../media/image120.png"/><Relationship Id="rId38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29" Type="http://schemas.openxmlformats.org/officeDocument/2006/relationships/image" Target="../media/image1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24" Type="http://schemas.openxmlformats.org/officeDocument/2006/relationships/image" Target="../media/image111.png"/><Relationship Id="rId32" Type="http://schemas.openxmlformats.org/officeDocument/2006/relationships/image" Target="../media/image119.png"/><Relationship Id="rId37" Type="http://schemas.openxmlformats.org/officeDocument/2006/relationships/image" Target="../media/image124.png"/><Relationship Id="rId5" Type="http://schemas.openxmlformats.org/officeDocument/2006/relationships/image" Target="../media/image10.png"/><Relationship Id="rId15" Type="http://schemas.openxmlformats.org/officeDocument/2006/relationships/image" Target="../media/image102.png"/><Relationship Id="rId23" Type="http://schemas.openxmlformats.org/officeDocument/2006/relationships/image" Target="../media/image110.png"/><Relationship Id="rId28" Type="http://schemas.openxmlformats.org/officeDocument/2006/relationships/image" Target="../media/image115.png"/><Relationship Id="rId36" Type="http://schemas.openxmlformats.org/officeDocument/2006/relationships/image" Target="../media/image123.png"/><Relationship Id="rId10" Type="http://schemas.openxmlformats.org/officeDocument/2006/relationships/image" Target="../media/image97.png"/><Relationship Id="rId19" Type="http://schemas.openxmlformats.org/officeDocument/2006/relationships/image" Target="../media/image106.png"/><Relationship Id="rId31" Type="http://schemas.openxmlformats.org/officeDocument/2006/relationships/image" Target="../media/image118.png"/><Relationship Id="rId4" Type="http://schemas.openxmlformats.org/officeDocument/2006/relationships/image" Target="../media/image92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Relationship Id="rId22" Type="http://schemas.openxmlformats.org/officeDocument/2006/relationships/image" Target="../media/image109.png"/><Relationship Id="rId27" Type="http://schemas.openxmlformats.org/officeDocument/2006/relationships/image" Target="../media/image114.png"/><Relationship Id="rId30" Type="http://schemas.openxmlformats.org/officeDocument/2006/relationships/image" Target="../media/image117.png"/><Relationship Id="rId35" Type="http://schemas.openxmlformats.org/officeDocument/2006/relationships/image" Target="../media/image122.png"/><Relationship Id="rId8" Type="http://schemas.openxmlformats.org/officeDocument/2006/relationships/image" Target="../media/image95.png"/><Relationship Id="rId3" Type="http://schemas.openxmlformats.org/officeDocument/2006/relationships/image" Target="../media/image9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png"/><Relationship Id="rId3" Type="http://schemas.openxmlformats.org/officeDocument/2006/relationships/image" Target="../media/image1.pn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5" Type="http://schemas.openxmlformats.org/officeDocument/2006/relationships/image" Target="../media/image125.png"/><Relationship Id="rId15" Type="http://schemas.openxmlformats.org/officeDocument/2006/relationships/image" Target="../media/image8.png"/><Relationship Id="rId10" Type="http://schemas.openxmlformats.org/officeDocument/2006/relationships/image" Target="../media/image130.png"/><Relationship Id="rId4" Type="http://schemas.openxmlformats.org/officeDocument/2006/relationships/image" Target="../media/image10.png"/><Relationship Id="rId9" Type="http://schemas.openxmlformats.org/officeDocument/2006/relationships/image" Target="../media/image129.png"/><Relationship Id="rId14" Type="http://schemas.openxmlformats.org/officeDocument/2006/relationships/image" Target="../media/image1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141.png"/><Relationship Id="rId1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136.png"/><Relationship Id="rId12" Type="http://schemas.openxmlformats.org/officeDocument/2006/relationships/image" Target="../media/image140.png"/><Relationship Id="rId17" Type="http://schemas.openxmlformats.org/officeDocument/2006/relationships/image" Target="../media/image14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11" Type="http://schemas.openxmlformats.org/officeDocument/2006/relationships/image" Target="../media/image139.png"/><Relationship Id="rId5" Type="http://schemas.openxmlformats.org/officeDocument/2006/relationships/image" Target="../media/image10.png"/><Relationship Id="rId15" Type="http://schemas.openxmlformats.org/officeDocument/2006/relationships/image" Target="../media/image143.png"/><Relationship Id="rId10" Type="http://schemas.openxmlformats.org/officeDocument/2006/relationships/image" Target="../media/image138.png"/><Relationship Id="rId4" Type="http://schemas.openxmlformats.org/officeDocument/2006/relationships/image" Target="../media/image9.png"/><Relationship Id="rId9" Type="http://schemas.openxmlformats.org/officeDocument/2006/relationships/image" Target="../media/image137.png"/><Relationship Id="rId14" Type="http://schemas.openxmlformats.org/officeDocument/2006/relationships/image" Target="../media/image1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13" Type="http://schemas.openxmlformats.org/officeDocument/2006/relationships/image" Target="../media/image154.png"/><Relationship Id="rId18" Type="http://schemas.openxmlformats.org/officeDocument/2006/relationships/image" Target="../media/image159.png"/><Relationship Id="rId3" Type="http://schemas.openxmlformats.org/officeDocument/2006/relationships/image" Target="../media/image1.png"/><Relationship Id="rId21" Type="http://schemas.openxmlformats.org/officeDocument/2006/relationships/image" Target="../media/image8.png"/><Relationship Id="rId7" Type="http://schemas.openxmlformats.org/officeDocument/2006/relationships/image" Target="../media/image148.png"/><Relationship Id="rId12" Type="http://schemas.openxmlformats.org/officeDocument/2006/relationships/image" Target="../media/image153.png"/><Relationship Id="rId17" Type="http://schemas.openxmlformats.org/officeDocument/2006/relationships/image" Target="../media/image15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57.png"/><Relationship Id="rId20" Type="http://schemas.openxmlformats.org/officeDocument/2006/relationships/image" Target="../media/image1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11" Type="http://schemas.openxmlformats.org/officeDocument/2006/relationships/image" Target="../media/image152.png"/><Relationship Id="rId5" Type="http://schemas.openxmlformats.org/officeDocument/2006/relationships/image" Target="../media/image146.png"/><Relationship Id="rId15" Type="http://schemas.openxmlformats.org/officeDocument/2006/relationships/image" Target="../media/image156.png"/><Relationship Id="rId10" Type="http://schemas.openxmlformats.org/officeDocument/2006/relationships/image" Target="../media/image151.png"/><Relationship Id="rId19" Type="http://schemas.openxmlformats.org/officeDocument/2006/relationships/image" Target="../media/image160.png"/><Relationship Id="rId4" Type="http://schemas.openxmlformats.org/officeDocument/2006/relationships/image" Target="../media/image10.png"/><Relationship Id="rId9" Type="http://schemas.openxmlformats.org/officeDocument/2006/relationships/image" Target="../media/image150.png"/><Relationship Id="rId14" Type="http://schemas.openxmlformats.org/officeDocument/2006/relationships/image" Target="../media/image15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69.png"/><Relationship Id="rId18" Type="http://schemas.openxmlformats.org/officeDocument/2006/relationships/image" Target="../media/image174.png"/><Relationship Id="rId3" Type="http://schemas.openxmlformats.org/officeDocument/2006/relationships/image" Target="../media/image1.png"/><Relationship Id="rId21" Type="http://schemas.openxmlformats.org/officeDocument/2006/relationships/image" Target="../media/image177.png"/><Relationship Id="rId7" Type="http://schemas.openxmlformats.org/officeDocument/2006/relationships/image" Target="../media/image163.png"/><Relationship Id="rId12" Type="http://schemas.openxmlformats.org/officeDocument/2006/relationships/image" Target="../media/image168.png"/><Relationship Id="rId17" Type="http://schemas.openxmlformats.org/officeDocument/2006/relationships/image" Target="../media/image173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72.png"/><Relationship Id="rId20" Type="http://schemas.openxmlformats.org/officeDocument/2006/relationships/image" Target="../media/image1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5" Type="http://schemas.openxmlformats.org/officeDocument/2006/relationships/image" Target="../media/image10.png"/><Relationship Id="rId15" Type="http://schemas.openxmlformats.org/officeDocument/2006/relationships/image" Target="../media/image171.png"/><Relationship Id="rId10" Type="http://schemas.openxmlformats.org/officeDocument/2006/relationships/image" Target="../media/image166.png"/><Relationship Id="rId19" Type="http://schemas.openxmlformats.org/officeDocument/2006/relationships/image" Target="../media/image175.png"/><Relationship Id="rId4" Type="http://schemas.openxmlformats.org/officeDocument/2006/relationships/image" Target="../media/image9.png"/><Relationship Id="rId9" Type="http://schemas.openxmlformats.org/officeDocument/2006/relationships/image" Target="../media/image165.png"/><Relationship Id="rId14" Type="http://schemas.openxmlformats.org/officeDocument/2006/relationships/image" Target="../media/image170.png"/><Relationship Id="rId22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1.png"/><Relationship Id="rId4" Type="http://schemas.openxmlformats.org/officeDocument/2006/relationships/image" Target="../media/image18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13" Type="http://schemas.openxmlformats.org/officeDocument/2006/relationships/image" Target="../media/image189.png"/><Relationship Id="rId1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183.png"/><Relationship Id="rId12" Type="http://schemas.openxmlformats.org/officeDocument/2006/relationships/image" Target="../media/image188.png"/><Relationship Id="rId17" Type="http://schemas.openxmlformats.org/officeDocument/2006/relationships/image" Target="../media/image193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2.png"/><Relationship Id="rId11" Type="http://schemas.openxmlformats.org/officeDocument/2006/relationships/image" Target="../media/image187.png"/><Relationship Id="rId5" Type="http://schemas.openxmlformats.org/officeDocument/2006/relationships/image" Target="../media/image10.png"/><Relationship Id="rId15" Type="http://schemas.openxmlformats.org/officeDocument/2006/relationships/image" Target="../media/image191.png"/><Relationship Id="rId10" Type="http://schemas.openxmlformats.org/officeDocument/2006/relationships/image" Target="../media/image186.png"/><Relationship Id="rId4" Type="http://schemas.openxmlformats.org/officeDocument/2006/relationships/image" Target="../media/image9.png"/><Relationship Id="rId9" Type="http://schemas.openxmlformats.org/officeDocument/2006/relationships/image" Target="../media/image185.png"/><Relationship Id="rId14" Type="http://schemas.openxmlformats.org/officeDocument/2006/relationships/image" Target="../media/image1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42183"/>
            <a:ext cx="76200" cy="76200"/>
          </a:xfrm>
          <a:prstGeom prst="rect">
            <a:avLst/>
          </a:prstGeom>
        </p:spPr>
      </p:pic>
      <p:pic>
        <p:nvPicPr>
          <p:cNvPr id="5" name="SK-1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45073"/>
            <a:ext cx="76200" cy="76200"/>
          </a:xfrm>
          <a:prstGeom prst="rect">
            <a:avLst/>
          </a:prstGeom>
        </p:spPr>
      </p:pic>
      <p:pic>
        <p:nvPicPr>
          <p:cNvPr id="6" name="SK-1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47964"/>
            <a:ext cx="76200" cy="76200"/>
          </a:xfrm>
          <a:prstGeom prst="rect">
            <a:avLst/>
          </a:prstGeom>
        </p:spPr>
      </p:pic>
      <p:pic>
        <p:nvPicPr>
          <p:cNvPr id="7" name="SK-1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698504"/>
            <a:ext cx="11049000" cy="790575"/>
          </a:xfrm>
          <a:prstGeom prst="rect">
            <a:avLst/>
          </a:prstGeom>
        </p:spPr>
      </p:pic>
      <p:pic>
        <p:nvPicPr>
          <p:cNvPr id="8" name="SK-1-img-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9" name="SK-1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0" y="857250"/>
            <a:ext cx="4762500" cy="5143500"/>
          </a:xfrm>
          <a:prstGeom prst="rect">
            <a:avLst/>
          </a:prstGeom>
        </p:spPr>
      </p:pic>
      <p:pic>
        <p:nvPicPr>
          <p:cNvPr id="10" name="SK-1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11" name="SK-1-text-10"/>
          <p:cNvSpPr/>
          <p:nvPr/>
        </p:nvSpPr>
        <p:spPr>
          <a:xfrm>
            <a:off x="571500" y="1368772"/>
            <a:ext cx="11620500" cy="586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620"/>
              </a:lnSpc>
              <a:buNone/>
            </a:pPr>
            <a:r>
              <a:rPr lang="en-US" sz="42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基于ESP32-C3的智能携带与物联网系统</a:t>
            </a:r>
            <a:endParaRPr lang="en-US" sz="4200" dirty="0"/>
          </a:p>
        </p:txBody>
      </p:sp>
      <p:sp>
        <p:nvSpPr>
          <p:cNvPr id="12" name="SK-1-text-11"/>
          <p:cNvSpPr/>
          <p:nvPr/>
        </p:nvSpPr>
        <p:spPr>
          <a:xfrm>
            <a:off x="571500" y="2145953"/>
            <a:ext cx="9944100" cy="3199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双项目共享超低功耗架构与云端集成路演</a:t>
            </a:r>
            <a:endParaRPr lang="en-US" sz="1800" dirty="0"/>
          </a:p>
        </p:txBody>
      </p:sp>
      <p:sp>
        <p:nvSpPr>
          <p:cNvPr id="13" name="SK-1-text-12"/>
          <p:cNvSpPr/>
          <p:nvPr/>
        </p:nvSpPr>
        <p:spPr>
          <a:xfrm>
            <a:off x="762000" y="2846933"/>
            <a:ext cx="11430000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项目一：智能摔倒报警器</a:t>
            </a:r>
            <a:r>
              <a:rPr lang="en-US" sz="13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解决老人独处摔倒无人知晓问题，采用三段式状态机检测算法，实现WiFi实时上报。</a:t>
            </a:r>
            <a:endParaRPr lang="en-US" sz="1350" dirty="0"/>
          </a:p>
        </p:txBody>
      </p:sp>
      <p:sp>
        <p:nvSpPr>
          <p:cNvPr id="14" name="SK-1-text-13"/>
          <p:cNvSpPr/>
          <p:nvPr/>
        </p:nvSpPr>
        <p:spPr>
          <a:xfrm>
            <a:off x="762000" y="3349823"/>
            <a:ext cx="11430000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项目二：太阳能电子围栏</a:t>
            </a:r>
            <a:r>
              <a:rPr lang="en-US" sz="13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蓝牙扫描进出记录，本地存储关键数据，太阳能供电实现长期部署。</a:t>
            </a:r>
            <a:endParaRPr lang="en-US" sz="1350" dirty="0"/>
          </a:p>
        </p:txBody>
      </p:sp>
      <p:sp>
        <p:nvSpPr>
          <p:cNvPr id="15" name="SK-1-text-14"/>
          <p:cNvSpPr/>
          <p:nvPr/>
        </p:nvSpPr>
        <p:spPr>
          <a:xfrm>
            <a:off x="762000" y="3852714"/>
            <a:ext cx="11430000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共享核心</a:t>
            </a:r>
            <a:r>
              <a:rPr lang="en-US" sz="13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基于ESP32-C3的统一硬件平台与超低功耗设计理念，可无缝接入阿里云IoT等主流云平台。</a:t>
            </a:r>
            <a:endParaRPr lang="en-US" sz="1350" dirty="0"/>
          </a:p>
        </p:txBody>
      </p:sp>
      <p:sp>
        <p:nvSpPr>
          <p:cNvPr id="16" name="SK-1-text-15"/>
          <p:cNvSpPr/>
          <p:nvPr/>
        </p:nvSpPr>
        <p:spPr>
          <a:xfrm>
            <a:off x="571500" y="4927104"/>
            <a:ext cx="110490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嵌入式系统项目路演 | 九九</a:t>
            </a:r>
            <a:endParaRPr lang="en-US" sz="1350" dirty="0"/>
          </a:p>
        </p:txBody>
      </p:sp>
      <p:sp>
        <p:nvSpPr>
          <p:cNvPr id="17" name="SK-1-text-16"/>
          <p:cNvSpPr/>
          <p:nvPr/>
        </p:nvSpPr>
        <p:spPr>
          <a:xfrm>
            <a:off x="571500" y="5260479"/>
            <a:ext cx="11049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2026年5月24日</a:t>
            </a:r>
            <a:endParaRPr lang="en-US" sz="1200" dirty="0"/>
          </a:p>
        </p:txBody>
      </p:sp>
      <p:sp>
        <p:nvSpPr>
          <p:cNvPr id="18" name="SK-1-text-17"/>
          <p:cNvSpPr/>
          <p:nvPr/>
        </p:nvSpPr>
        <p:spPr>
          <a:xfrm>
            <a:off x="11442650" y="6610350"/>
            <a:ext cx="74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天工 AI 生成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6700"/>
            <a:ext cx="11277600" cy="685651"/>
          </a:xfrm>
          <a:prstGeom prst="rect">
            <a:avLst/>
          </a:prstGeom>
        </p:spPr>
      </p:pic>
      <p:pic>
        <p:nvPicPr>
          <p:cNvPr id="5" name="SK-2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80951"/>
            <a:ext cx="11277600" cy="1923901"/>
          </a:xfrm>
          <a:prstGeom prst="rect">
            <a:avLst/>
          </a:prstGeom>
        </p:spPr>
      </p:pic>
      <p:pic>
        <p:nvPicPr>
          <p:cNvPr id="6" name="SK-2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525637"/>
            <a:ext cx="333375" cy="266700"/>
          </a:xfrm>
          <a:prstGeom prst="rect">
            <a:avLst/>
          </a:prstGeom>
        </p:spPr>
      </p:pic>
      <p:pic>
        <p:nvPicPr>
          <p:cNvPr id="7" name="SK-2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447752"/>
            <a:ext cx="5486400" cy="2144018"/>
          </a:xfrm>
          <a:prstGeom prst="rect">
            <a:avLst/>
          </a:prstGeom>
        </p:spPr>
      </p:pic>
      <p:pic>
        <p:nvPicPr>
          <p:cNvPr id="8" name="SK-2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722043"/>
            <a:ext cx="285750" cy="228600"/>
          </a:xfrm>
          <a:prstGeom prst="rect">
            <a:avLst/>
          </a:prstGeom>
        </p:spPr>
      </p:pic>
      <p:pic>
        <p:nvPicPr>
          <p:cNvPr id="9" name="SK-2-img-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3447752"/>
            <a:ext cx="5486400" cy="2144018"/>
          </a:xfrm>
          <a:prstGeom prst="rect">
            <a:avLst/>
          </a:prstGeom>
        </p:spPr>
      </p:pic>
      <p:pic>
        <p:nvPicPr>
          <p:cNvPr id="10" name="SK-2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3722043"/>
            <a:ext cx="285750" cy="228600"/>
          </a:xfrm>
          <a:prstGeom prst="rect">
            <a:avLst/>
          </a:prstGeom>
        </p:spPr>
      </p:pic>
      <p:pic>
        <p:nvPicPr>
          <p:cNvPr id="11" name="SK-2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6163270"/>
            <a:ext cx="11277600" cy="647700"/>
          </a:xfrm>
          <a:prstGeom prst="rect">
            <a:avLst/>
          </a:prstGeom>
        </p:spPr>
      </p:pic>
      <p:pic>
        <p:nvPicPr>
          <p:cNvPr id="12" name="SK-2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98997" y="6372820"/>
            <a:ext cx="285750" cy="228600"/>
          </a:xfrm>
          <a:prstGeom prst="rect">
            <a:avLst/>
          </a:prstGeom>
        </p:spPr>
      </p:pic>
      <p:pic>
        <p:nvPicPr>
          <p:cNvPr id="13" name="SK-2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14" name="SK-2-text-13"/>
          <p:cNvSpPr/>
          <p:nvPr/>
        </p:nvSpPr>
        <p:spPr>
          <a:xfrm>
            <a:off x="647700" y="266700"/>
            <a:ext cx="11087100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项目概述与核心理念</a:t>
            </a:r>
            <a:endParaRPr lang="en-US" sz="2550" dirty="0"/>
          </a:p>
        </p:txBody>
      </p:sp>
      <p:sp>
        <p:nvSpPr>
          <p:cNvPr id="15" name="SK-2-text-14"/>
          <p:cNvSpPr/>
          <p:nvPr/>
        </p:nvSpPr>
        <p:spPr>
          <a:xfrm>
            <a:off x="647700" y="712440"/>
            <a:ext cx="11087100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基于ESP32-C3的双项目架构，强调共享超低功耗设计理念</a:t>
            </a:r>
            <a:endParaRPr lang="en-US" sz="1350" dirty="0"/>
          </a:p>
        </p:txBody>
      </p:sp>
      <p:sp>
        <p:nvSpPr>
          <p:cNvPr id="16" name="SK-2-text-15"/>
          <p:cNvSpPr/>
          <p:nvPr/>
        </p:nvSpPr>
        <p:spPr>
          <a:xfrm>
            <a:off x="1285875" y="1485751"/>
            <a:ext cx="10515600" cy="3466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两个项目，一个核心平台</a:t>
            </a:r>
            <a:endParaRPr lang="en-US" sz="2100" dirty="0"/>
          </a:p>
        </p:txBody>
      </p:sp>
      <p:sp>
        <p:nvSpPr>
          <p:cNvPr id="17" name="SK-2-text-16"/>
          <p:cNvSpPr/>
          <p:nvPr/>
        </p:nvSpPr>
        <p:spPr>
          <a:xfrm>
            <a:off x="838200" y="2022872"/>
            <a:ext cx="1051560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本项目包含两个独立的嵌入式物联网应用，它们共享同一套基于 ESP32-C3 的硬件核心与超低功耗设计哲学。通过模块化架构，实现技术方案的高效复用与快速部署。</a:t>
            </a:r>
            <a:endParaRPr lang="en-US" sz="1350" dirty="0"/>
          </a:p>
        </p:txBody>
      </p:sp>
      <p:sp>
        <p:nvSpPr>
          <p:cNvPr id="18" name="SK-2-text-17"/>
          <p:cNvSpPr/>
          <p:nvPr/>
        </p:nvSpPr>
        <p:spPr>
          <a:xfrm>
            <a:off x="1066800" y="3676352"/>
            <a:ext cx="5029200" cy="3199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项目一：智能摔倒报警器</a:t>
            </a:r>
            <a:endParaRPr lang="en-US" sz="1800" dirty="0"/>
          </a:p>
        </p:txBody>
      </p:sp>
      <p:sp>
        <p:nvSpPr>
          <p:cNvPr id="19" name="SK-2-text-18"/>
          <p:cNvSpPr/>
          <p:nvPr/>
        </p:nvSpPr>
        <p:spPr>
          <a:xfrm>
            <a:off x="685800" y="4110633"/>
            <a:ext cx="7071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解决老人/独处人员摔倒后无人知晓的紧急救援难题。</a:t>
            </a:r>
            <a:endParaRPr lang="en-US" sz="1200" dirty="0"/>
          </a:p>
        </p:txBody>
      </p:sp>
      <p:sp>
        <p:nvSpPr>
          <p:cNvPr id="20" name="SK-2-text-19"/>
          <p:cNvSpPr/>
          <p:nvPr/>
        </p:nvSpPr>
        <p:spPr>
          <a:xfrm>
            <a:off x="895350" y="4491633"/>
            <a:ext cx="48196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实时姿态检测与算法分析</a:t>
            </a:r>
            <a:endParaRPr lang="en-US" sz="1125" dirty="0"/>
          </a:p>
        </p:txBody>
      </p:sp>
      <p:sp>
        <p:nvSpPr>
          <p:cNvPr id="21" name="SK-2-text-20"/>
          <p:cNvSpPr/>
          <p:nvPr/>
        </p:nvSpPr>
        <p:spPr>
          <a:xfrm>
            <a:off x="895350" y="4782145"/>
            <a:ext cx="48196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WiFi 网络自动上报服务器</a:t>
            </a:r>
            <a:endParaRPr lang="en-US" sz="1125" dirty="0"/>
          </a:p>
        </p:txBody>
      </p:sp>
      <p:sp>
        <p:nvSpPr>
          <p:cNvPr id="22" name="SK-2-text-21"/>
          <p:cNvSpPr/>
          <p:nvPr/>
        </p:nvSpPr>
        <p:spPr>
          <a:xfrm>
            <a:off x="895350" y="5072658"/>
            <a:ext cx="48196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针对快速摔倒场景，识别准确率 &gt;95%</a:t>
            </a:r>
            <a:endParaRPr lang="en-US" sz="1125" dirty="0"/>
          </a:p>
        </p:txBody>
      </p:sp>
      <p:sp>
        <p:nvSpPr>
          <p:cNvPr id="23" name="SK-2-text-22"/>
          <p:cNvSpPr/>
          <p:nvPr/>
        </p:nvSpPr>
        <p:spPr>
          <a:xfrm>
            <a:off x="6858000" y="3676352"/>
            <a:ext cx="5029200" cy="3199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项目二：太阳能电子围栏</a:t>
            </a:r>
            <a:endParaRPr lang="en-US" sz="1800" dirty="0"/>
          </a:p>
        </p:txBody>
      </p:sp>
      <p:sp>
        <p:nvSpPr>
          <p:cNvPr id="24" name="SK-2-text-23"/>
          <p:cNvSpPr/>
          <p:nvPr/>
        </p:nvSpPr>
        <p:spPr>
          <a:xfrm>
            <a:off x="6477000" y="4110633"/>
            <a:ext cx="5715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解决特定区域（如危险区域）人员/物品进出无接触记录问题。</a:t>
            </a:r>
            <a:endParaRPr lang="en-US" sz="1200" dirty="0"/>
          </a:p>
        </p:txBody>
      </p:sp>
      <p:sp>
        <p:nvSpPr>
          <p:cNvPr id="25" name="SK-2-text-24"/>
          <p:cNvSpPr/>
          <p:nvPr/>
        </p:nvSpPr>
        <p:spPr>
          <a:xfrm>
            <a:off x="6686550" y="4491633"/>
            <a:ext cx="48196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蓝牙扫描识别与接近检测</a:t>
            </a:r>
            <a:endParaRPr lang="en-US" sz="1125" dirty="0"/>
          </a:p>
        </p:txBody>
      </p:sp>
      <p:sp>
        <p:nvSpPr>
          <p:cNvPr id="26" name="SK-2-text-25"/>
          <p:cNvSpPr/>
          <p:nvPr/>
        </p:nvSpPr>
        <p:spPr>
          <a:xfrm>
            <a:off x="6686550" y="4782145"/>
            <a:ext cx="48196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 EEPROM 存储记录</a:t>
            </a:r>
            <a:endParaRPr lang="en-US" sz="1125" dirty="0"/>
          </a:p>
        </p:txBody>
      </p:sp>
      <p:sp>
        <p:nvSpPr>
          <p:cNvPr id="27" name="SK-2-text-26"/>
          <p:cNvSpPr/>
          <p:nvPr/>
        </p:nvSpPr>
        <p:spPr>
          <a:xfrm>
            <a:off x="6686550" y="5072658"/>
            <a:ext cx="48196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太阳能+锂电池永久续航设计</a:t>
            </a:r>
            <a:endParaRPr lang="en-US" sz="1125" dirty="0"/>
          </a:p>
        </p:txBody>
      </p:sp>
      <p:sp>
        <p:nvSpPr>
          <p:cNvPr id="28" name="SK-2-text-27"/>
          <p:cNvSpPr/>
          <p:nvPr/>
        </p:nvSpPr>
        <p:spPr>
          <a:xfrm>
            <a:off x="1937147" y="6353770"/>
            <a:ext cx="875585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共同核心：</a:t>
            </a:r>
            <a:r>
              <a:rPr lang="en-US" sz="15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ESP32-C3 RISC-V 芯片</a:t>
            </a: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</a:t>
            </a:r>
            <a:r>
              <a:rPr lang="en-US" sz="15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超低功耗设计（深度睡眠 &lt; 10μA）</a:t>
            </a: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</a:t>
            </a:r>
            <a:r>
              <a:rPr lang="en-US" sz="15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统一中控台与云平台接入能力</a:t>
            </a:r>
            <a:endParaRPr lang="en-US" sz="1500" dirty="0"/>
          </a:p>
        </p:txBody>
      </p:sp>
      <p:sp>
        <p:nvSpPr>
          <p:cNvPr id="29" name="SK-2-text-28"/>
          <p:cNvSpPr/>
          <p:nvPr/>
        </p:nvSpPr>
        <p:spPr>
          <a:xfrm>
            <a:off x="11442650" y="6610350"/>
            <a:ext cx="74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天工 AI 生成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SK-3-img-3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62226"/>
            <a:ext cx="11277600" cy="2232422"/>
          </a:xfrm>
          <a:prstGeom prst="rect">
            <a:avLst/>
          </a:prstGeom>
        </p:spPr>
      </p:pic>
      <p:pic>
        <p:nvPicPr>
          <p:cNvPr id="2" name="SK-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" y="-23217"/>
            <a:ext cx="12192000" cy="6858000"/>
          </a:xfrm>
          <a:prstGeom prst="rect">
            <a:avLst/>
          </a:prstGeom>
        </p:spPr>
      </p:pic>
      <p:pic>
        <p:nvPicPr>
          <p:cNvPr id="4" name="SK-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6700"/>
            <a:ext cx="11277600" cy="685651"/>
          </a:xfrm>
          <a:prstGeom prst="rect">
            <a:avLst/>
          </a:prstGeom>
        </p:spPr>
      </p:pic>
      <p:pic>
        <p:nvPicPr>
          <p:cNvPr id="5" name="SK-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80951"/>
            <a:ext cx="5486400" cy="2667000"/>
          </a:xfrm>
          <a:prstGeom prst="rect">
            <a:avLst/>
          </a:prstGeom>
        </p:spPr>
      </p:pic>
      <p:pic>
        <p:nvPicPr>
          <p:cNvPr id="6" name="SK-3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487537"/>
            <a:ext cx="333375" cy="266700"/>
          </a:xfrm>
          <a:prstGeom prst="rect">
            <a:avLst/>
          </a:prstGeom>
        </p:spPr>
      </p:pic>
      <p:pic>
        <p:nvPicPr>
          <p:cNvPr id="7" name="SK-3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1984772"/>
            <a:ext cx="4953000" cy="762000"/>
          </a:xfrm>
          <a:prstGeom prst="rect">
            <a:avLst/>
          </a:prstGeom>
        </p:spPr>
      </p:pic>
      <p:pic>
        <p:nvPicPr>
          <p:cNvPr id="8" name="SK-3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1984772"/>
            <a:ext cx="571500" cy="571500"/>
          </a:xfrm>
          <a:prstGeom prst="rect">
            <a:avLst/>
          </a:prstGeom>
        </p:spPr>
      </p:pic>
      <p:pic>
        <p:nvPicPr>
          <p:cNvPr id="9" name="SK-3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963" y="2137172"/>
            <a:ext cx="333375" cy="266700"/>
          </a:xfrm>
          <a:prstGeom prst="rect">
            <a:avLst/>
          </a:prstGeom>
        </p:spPr>
      </p:pic>
      <p:pic>
        <p:nvPicPr>
          <p:cNvPr id="10" name="SK-3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3050530"/>
            <a:ext cx="214313" cy="175320"/>
          </a:xfrm>
          <a:prstGeom prst="rect">
            <a:avLst/>
          </a:prstGeom>
        </p:spPr>
      </p:pic>
      <p:pic>
        <p:nvPicPr>
          <p:cNvPr id="11" name="SK-3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3479155"/>
            <a:ext cx="214313" cy="175320"/>
          </a:xfrm>
          <a:prstGeom prst="rect">
            <a:avLst/>
          </a:prstGeom>
        </p:spPr>
      </p:pic>
      <p:pic>
        <p:nvPicPr>
          <p:cNvPr id="12" name="SK-3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3907780"/>
            <a:ext cx="214313" cy="175320"/>
          </a:xfrm>
          <a:prstGeom prst="rect">
            <a:avLst/>
          </a:prstGeom>
        </p:spPr>
      </p:pic>
      <p:pic>
        <p:nvPicPr>
          <p:cNvPr id="13" name="SK-3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1180951"/>
            <a:ext cx="5486400" cy="2667000"/>
          </a:xfrm>
          <a:prstGeom prst="rect">
            <a:avLst/>
          </a:prstGeom>
        </p:spPr>
      </p:pic>
      <p:pic>
        <p:nvPicPr>
          <p:cNvPr id="14" name="SK-3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5100" y="1487537"/>
            <a:ext cx="333375" cy="266700"/>
          </a:xfrm>
          <a:prstGeom prst="rect">
            <a:avLst/>
          </a:prstGeom>
        </p:spPr>
      </p:pic>
      <p:pic>
        <p:nvPicPr>
          <p:cNvPr id="15" name="SK-3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5100" y="1984772"/>
            <a:ext cx="2381250" cy="1916311"/>
          </a:xfrm>
          <a:prstGeom prst="rect">
            <a:avLst/>
          </a:prstGeom>
        </p:spPr>
      </p:pic>
      <p:pic>
        <p:nvPicPr>
          <p:cNvPr id="16" name="SK-3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05600" y="2203847"/>
            <a:ext cx="238125" cy="190500"/>
          </a:xfrm>
          <a:prstGeom prst="rect">
            <a:avLst/>
          </a:prstGeom>
        </p:spPr>
      </p:pic>
      <p:pic>
        <p:nvPicPr>
          <p:cNvPr id="17" name="SK-3-img-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05600" y="3184922"/>
            <a:ext cx="2000250" cy="525661"/>
          </a:xfrm>
          <a:prstGeom prst="rect">
            <a:avLst/>
          </a:prstGeom>
        </p:spPr>
      </p:pic>
      <p:pic>
        <p:nvPicPr>
          <p:cNvPr id="18" name="SK-3-img-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19900" y="3364409"/>
            <a:ext cx="166688" cy="166688"/>
          </a:xfrm>
          <a:prstGeom prst="rect">
            <a:avLst/>
          </a:prstGeom>
        </p:spPr>
      </p:pic>
      <p:pic>
        <p:nvPicPr>
          <p:cNvPr id="19" name="SK-3-img-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86850" y="1984772"/>
            <a:ext cx="2381250" cy="1916311"/>
          </a:xfrm>
          <a:prstGeom prst="rect">
            <a:avLst/>
          </a:prstGeom>
        </p:spPr>
      </p:pic>
      <p:pic>
        <p:nvPicPr>
          <p:cNvPr id="20" name="SK-3-img-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77350" y="2203847"/>
            <a:ext cx="238125" cy="190500"/>
          </a:xfrm>
          <a:prstGeom prst="rect">
            <a:avLst/>
          </a:prstGeom>
        </p:spPr>
      </p:pic>
      <p:pic>
        <p:nvPicPr>
          <p:cNvPr id="21" name="SK-3-img-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77350" y="2956322"/>
            <a:ext cx="2000250" cy="525661"/>
          </a:xfrm>
          <a:prstGeom prst="rect">
            <a:avLst/>
          </a:prstGeom>
        </p:spPr>
      </p:pic>
      <p:pic>
        <p:nvPicPr>
          <p:cNvPr id="22" name="SK-3-img-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91650" y="3135809"/>
            <a:ext cx="166688" cy="166688"/>
          </a:xfrm>
          <a:prstGeom prst="rect">
            <a:avLst/>
          </a:prstGeom>
        </p:spPr>
      </p:pic>
      <p:pic>
        <p:nvPicPr>
          <p:cNvPr id="23" name="SK-3-img-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15100" y="4091583"/>
            <a:ext cx="2381250" cy="1687711"/>
          </a:xfrm>
          <a:prstGeom prst="rect">
            <a:avLst/>
          </a:prstGeom>
        </p:spPr>
      </p:pic>
      <p:pic>
        <p:nvPicPr>
          <p:cNvPr id="24" name="SK-3-img-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05600" y="4310658"/>
            <a:ext cx="238125" cy="190500"/>
          </a:xfrm>
          <a:prstGeom prst="rect">
            <a:avLst/>
          </a:prstGeom>
        </p:spPr>
      </p:pic>
      <p:pic>
        <p:nvPicPr>
          <p:cNvPr id="25" name="SK-3-img-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05600" y="5063133"/>
            <a:ext cx="2000250" cy="525661"/>
          </a:xfrm>
          <a:prstGeom prst="rect">
            <a:avLst/>
          </a:prstGeom>
        </p:spPr>
      </p:pic>
      <p:pic>
        <p:nvPicPr>
          <p:cNvPr id="26" name="SK-3-img-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19900" y="5242620"/>
            <a:ext cx="166688" cy="166688"/>
          </a:xfrm>
          <a:prstGeom prst="rect">
            <a:avLst/>
          </a:prstGeom>
        </p:spPr>
      </p:pic>
      <p:pic>
        <p:nvPicPr>
          <p:cNvPr id="27" name="SK-3-img-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086850" y="4091583"/>
            <a:ext cx="2381250" cy="1687711"/>
          </a:xfrm>
          <a:prstGeom prst="rect">
            <a:avLst/>
          </a:prstGeom>
        </p:spPr>
      </p:pic>
      <p:pic>
        <p:nvPicPr>
          <p:cNvPr id="28" name="SK-3-img-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77350" y="4310658"/>
            <a:ext cx="238125" cy="190500"/>
          </a:xfrm>
          <a:prstGeom prst="rect">
            <a:avLst/>
          </a:prstGeom>
        </p:spPr>
      </p:pic>
      <p:pic>
        <p:nvPicPr>
          <p:cNvPr id="29" name="SK-3-img-28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77350" y="5063133"/>
            <a:ext cx="2000250" cy="525661"/>
          </a:xfrm>
          <a:prstGeom prst="rect">
            <a:avLst/>
          </a:prstGeom>
        </p:spPr>
      </p:pic>
      <p:pic>
        <p:nvPicPr>
          <p:cNvPr id="30" name="SK-3-img-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391650" y="5242620"/>
            <a:ext cx="166688" cy="166688"/>
          </a:xfrm>
          <a:prstGeom prst="rect">
            <a:avLst/>
          </a:prstGeom>
        </p:spPr>
      </p:pic>
      <p:pic>
        <p:nvPicPr>
          <p:cNvPr id="32" name="SK-3-img-31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3900" y="4813697"/>
            <a:ext cx="666750" cy="666750"/>
          </a:xfrm>
          <a:prstGeom prst="rect">
            <a:avLst/>
          </a:prstGeom>
        </p:spPr>
      </p:pic>
      <p:pic>
        <p:nvPicPr>
          <p:cNvPr id="33" name="SK-3-img-32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66775" y="4994672"/>
            <a:ext cx="381000" cy="304800"/>
          </a:xfrm>
          <a:prstGeom prst="rect">
            <a:avLst/>
          </a:prstGeom>
        </p:spPr>
      </p:pic>
      <p:pic>
        <p:nvPicPr>
          <p:cNvPr id="34" name="SK-3-img-33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619250" y="5703168"/>
            <a:ext cx="1181100" cy="381000"/>
          </a:xfrm>
          <a:prstGeom prst="rect">
            <a:avLst/>
          </a:prstGeom>
        </p:spPr>
      </p:pic>
      <p:pic>
        <p:nvPicPr>
          <p:cNvPr id="35" name="SK-3-img-34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771650" y="5815235"/>
            <a:ext cx="190500" cy="156865"/>
          </a:xfrm>
          <a:prstGeom prst="rect">
            <a:avLst/>
          </a:prstGeom>
        </p:spPr>
      </p:pic>
      <p:pic>
        <p:nvPicPr>
          <p:cNvPr id="36" name="SK-3-img-35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957666" y="5730105"/>
            <a:ext cx="1181100" cy="381000"/>
          </a:xfrm>
          <a:prstGeom prst="rect">
            <a:avLst/>
          </a:prstGeom>
        </p:spPr>
      </p:pic>
      <p:pic>
        <p:nvPicPr>
          <p:cNvPr id="37" name="SK-3-img-36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110066" y="5842172"/>
            <a:ext cx="190500" cy="156865"/>
          </a:xfrm>
          <a:prstGeom prst="rect">
            <a:avLst/>
          </a:prstGeom>
        </p:spPr>
      </p:pic>
      <p:pic>
        <p:nvPicPr>
          <p:cNvPr id="38" name="SK-3-img-3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362450" y="5754985"/>
            <a:ext cx="1181100" cy="381000"/>
          </a:xfrm>
          <a:prstGeom prst="rect">
            <a:avLst/>
          </a:prstGeom>
        </p:spPr>
      </p:pic>
      <p:pic>
        <p:nvPicPr>
          <p:cNvPr id="39" name="SK-3-img-38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514850" y="5867052"/>
            <a:ext cx="190500" cy="156865"/>
          </a:xfrm>
          <a:prstGeom prst="rect">
            <a:avLst/>
          </a:prstGeom>
        </p:spPr>
      </p:pic>
      <p:pic>
        <p:nvPicPr>
          <p:cNvPr id="40" name="SK-3-img-39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41" name="SK-3-text-40"/>
          <p:cNvSpPr/>
          <p:nvPr/>
        </p:nvSpPr>
        <p:spPr>
          <a:xfrm>
            <a:off x="647700" y="266700"/>
            <a:ext cx="11087100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智能摔倒报警器：场景痛点与现有局限</a:t>
            </a:r>
            <a:endParaRPr lang="en-US" sz="2550" dirty="0"/>
          </a:p>
        </p:txBody>
      </p:sp>
      <p:sp>
        <p:nvSpPr>
          <p:cNvPr id="42" name="SK-3-text-41"/>
          <p:cNvSpPr/>
          <p:nvPr/>
        </p:nvSpPr>
        <p:spPr>
          <a:xfrm>
            <a:off x="647700" y="712440"/>
            <a:ext cx="11087100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聚焦独居老人摔倒救援难题，分析现有方案的隐私与误报局限</a:t>
            </a:r>
            <a:endParaRPr lang="en-US" sz="1350" dirty="0"/>
          </a:p>
        </p:txBody>
      </p:sp>
      <p:sp>
        <p:nvSpPr>
          <p:cNvPr id="43" name="SK-3-text-42"/>
          <p:cNvSpPr/>
          <p:nvPr/>
        </p:nvSpPr>
        <p:spPr>
          <a:xfrm>
            <a:off x="1152525" y="1447651"/>
            <a:ext cx="6187440" cy="3466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严峻的现实：独居老人摔倒</a:t>
            </a:r>
            <a:endParaRPr lang="en-US" sz="2100" dirty="0"/>
          </a:p>
        </p:txBody>
      </p:sp>
      <p:sp>
        <p:nvSpPr>
          <p:cNvPr id="44" name="SK-3-text-43"/>
          <p:cNvSpPr/>
          <p:nvPr/>
        </p:nvSpPr>
        <p:spPr>
          <a:xfrm>
            <a:off x="1447800" y="1992362"/>
            <a:ext cx="42291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68.4 万</a:t>
            </a:r>
            <a:endParaRPr lang="en-US" sz="2400" dirty="0"/>
          </a:p>
        </p:txBody>
      </p:sp>
      <p:sp>
        <p:nvSpPr>
          <p:cNvPr id="45" name="SK-3-text-44"/>
          <p:cNvSpPr/>
          <p:nvPr/>
        </p:nvSpPr>
        <p:spPr>
          <a:xfrm>
            <a:off x="1447800" y="2335262"/>
            <a:ext cx="422910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全球每年因摔倒死亡人数</a:t>
            </a:r>
            <a:endParaRPr lang="en-US" sz="1200" dirty="0"/>
          </a:p>
        </p:txBody>
      </p:sp>
      <p:sp>
        <p:nvSpPr>
          <p:cNvPr id="46" name="SK-3-text-45"/>
          <p:cNvSpPr/>
          <p:nvPr/>
        </p:nvSpPr>
        <p:spPr>
          <a:xfrm>
            <a:off x="1052513" y="2975372"/>
            <a:ext cx="6995160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r>
              <a:rPr lang="zh-CN" altLang="en-US" sz="14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其中，在致命的跌伤中，</a:t>
            </a:r>
            <a:r>
              <a:rPr lang="en-US" altLang="zh-CN" sz="14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60</a:t>
            </a:r>
            <a:r>
              <a:rPr lang="zh-CN" altLang="en-US" sz="14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岁以上成年人所占比例最大</a:t>
            </a:r>
            <a:endParaRPr lang="zh-CN" altLang="en-US" sz="140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7" name="SK-3-text-46"/>
          <p:cNvSpPr/>
          <p:nvPr/>
        </p:nvSpPr>
        <p:spPr>
          <a:xfrm>
            <a:off x="1052513" y="3403997"/>
            <a:ext cx="6995160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独居老人摔倒后，</a:t>
            </a:r>
            <a:r>
              <a:rPr lang="en-US" sz="135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黄金救援时间仅 1-2 小时</a:t>
            </a:r>
            <a:endParaRPr lang="en-US" sz="1350" dirty="0"/>
          </a:p>
        </p:txBody>
      </p:sp>
      <p:sp>
        <p:nvSpPr>
          <p:cNvPr id="48" name="SK-3-text-47"/>
          <p:cNvSpPr/>
          <p:nvPr/>
        </p:nvSpPr>
        <p:spPr>
          <a:xfrm>
            <a:off x="1052513" y="3832622"/>
            <a:ext cx="6583680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核心问题：</a:t>
            </a:r>
            <a:r>
              <a:rPr lang="en-US" sz="135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摔倒无人知晓，错过最佳救援时机</a:t>
            </a:r>
            <a:endParaRPr lang="en-US" sz="1350" dirty="0"/>
          </a:p>
        </p:txBody>
      </p:sp>
      <p:sp>
        <p:nvSpPr>
          <p:cNvPr id="49" name="SK-3-text-48"/>
          <p:cNvSpPr/>
          <p:nvPr/>
        </p:nvSpPr>
        <p:spPr>
          <a:xfrm>
            <a:off x="6943725" y="1447651"/>
            <a:ext cx="4953000" cy="3466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现有方案及其局限</a:t>
            </a:r>
            <a:endParaRPr lang="en-US" sz="2100" dirty="0"/>
          </a:p>
        </p:txBody>
      </p:sp>
      <p:sp>
        <p:nvSpPr>
          <p:cNvPr id="50" name="SK-3-text-49"/>
          <p:cNvSpPr/>
          <p:nvPr/>
        </p:nvSpPr>
        <p:spPr>
          <a:xfrm>
            <a:off x="7038975" y="2175272"/>
            <a:ext cx="22860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按钮式报警器</a:t>
            </a:r>
            <a:endParaRPr lang="en-US" sz="1500" dirty="0"/>
          </a:p>
        </p:txBody>
      </p:sp>
      <p:sp>
        <p:nvSpPr>
          <p:cNvPr id="51" name="SK-3-text-50"/>
          <p:cNvSpPr/>
          <p:nvPr/>
        </p:nvSpPr>
        <p:spPr>
          <a:xfrm>
            <a:off x="6705600" y="2537222"/>
            <a:ext cx="20002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需要老人主动按压按钮触发报警</a:t>
            </a:r>
            <a:endParaRPr lang="en-US" sz="1200" dirty="0"/>
          </a:p>
        </p:txBody>
      </p:sp>
      <p:sp>
        <p:nvSpPr>
          <p:cNvPr id="52" name="SK-3-text-51"/>
          <p:cNvSpPr/>
          <p:nvPr/>
        </p:nvSpPr>
        <p:spPr>
          <a:xfrm>
            <a:off x="7062788" y="3261122"/>
            <a:ext cx="1528763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失去意识或无法动弹时完全失效</a:t>
            </a:r>
            <a:endParaRPr lang="en-US" sz="1050" dirty="0"/>
          </a:p>
        </p:txBody>
      </p:sp>
      <p:sp>
        <p:nvSpPr>
          <p:cNvPr id="53" name="SK-3-text-52"/>
          <p:cNvSpPr/>
          <p:nvPr/>
        </p:nvSpPr>
        <p:spPr>
          <a:xfrm>
            <a:off x="9610725" y="2175272"/>
            <a:ext cx="19050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摄像头监控</a:t>
            </a:r>
            <a:endParaRPr lang="en-US" sz="1500" dirty="0"/>
          </a:p>
        </p:txBody>
      </p:sp>
      <p:sp>
        <p:nvSpPr>
          <p:cNvPr id="54" name="SK-3-text-53"/>
          <p:cNvSpPr/>
          <p:nvPr/>
        </p:nvSpPr>
        <p:spPr>
          <a:xfrm>
            <a:off x="9277350" y="2537222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通过视频分析检测异常行为</a:t>
            </a:r>
            <a:endParaRPr lang="en-US" sz="1200" dirty="0"/>
          </a:p>
        </p:txBody>
      </p:sp>
      <p:sp>
        <p:nvSpPr>
          <p:cNvPr id="55" name="SK-3-text-54"/>
          <p:cNvSpPr/>
          <p:nvPr/>
        </p:nvSpPr>
        <p:spPr>
          <a:xfrm>
            <a:off x="9634538" y="3032522"/>
            <a:ext cx="1528763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侵犯隐私、安装复杂、成本高昂</a:t>
            </a:r>
            <a:endParaRPr lang="en-US" sz="1050" dirty="0"/>
          </a:p>
        </p:txBody>
      </p:sp>
      <p:sp>
        <p:nvSpPr>
          <p:cNvPr id="56" name="SK-3-text-55"/>
          <p:cNvSpPr/>
          <p:nvPr/>
        </p:nvSpPr>
        <p:spPr>
          <a:xfrm>
            <a:off x="7038975" y="4282083"/>
            <a:ext cx="25146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智能手环/手表</a:t>
            </a:r>
            <a:endParaRPr lang="en-US" sz="1500" dirty="0"/>
          </a:p>
        </p:txBody>
      </p:sp>
      <p:sp>
        <p:nvSpPr>
          <p:cNvPr id="57" name="SK-3-text-56"/>
          <p:cNvSpPr/>
          <p:nvPr/>
        </p:nvSpPr>
        <p:spPr>
          <a:xfrm>
            <a:off x="6705600" y="4644033"/>
            <a:ext cx="3840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佩戴式设备，集成多种传感器</a:t>
            </a:r>
            <a:endParaRPr lang="en-US" sz="1200" dirty="0"/>
          </a:p>
        </p:txBody>
      </p:sp>
      <p:sp>
        <p:nvSpPr>
          <p:cNvPr id="58" name="SK-3-text-57"/>
          <p:cNvSpPr/>
          <p:nvPr/>
        </p:nvSpPr>
        <p:spPr>
          <a:xfrm>
            <a:off x="7062788" y="5139333"/>
            <a:ext cx="1528763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续航短（需频繁充电）、误报率高</a:t>
            </a:r>
            <a:endParaRPr lang="en-US" sz="1050" dirty="0"/>
          </a:p>
        </p:txBody>
      </p:sp>
      <p:sp>
        <p:nvSpPr>
          <p:cNvPr id="59" name="SK-3-text-58"/>
          <p:cNvSpPr/>
          <p:nvPr/>
        </p:nvSpPr>
        <p:spPr>
          <a:xfrm>
            <a:off x="9610725" y="4282083"/>
            <a:ext cx="2581275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床垫/地板传感器</a:t>
            </a:r>
            <a:endParaRPr lang="en-US" sz="1500" dirty="0"/>
          </a:p>
        </p:txBody>
      </p:sp>
      <p:sp>
        <p:nvSpPr>
          <p:cNvPr id="60" name="SK-3-text-59"/>
          <p:cNvSpPr/>
          <p:nvPr/>
        </p:nvSpPr>
        <p:spPr>
          <a:xfrm>
            <a:off x="9277350" y="4644033"/>
            <a:ext cx="291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通过压力或振动检测摔倒</a:t>
            </a:r>
            <a:endParaRPr lang="en-US" sz="1200" dirty="0"/>
          </a:p>
        </p:txBody>
      </p:sp>
      <p:sp>
        <p:nvSpPr>
          <p:cNvPr id="61" name="SK-3-text-60"/>
          <p:cNvSpPr/>
          <p:nvPr/>
        </p:nvSpPr>
        <p:spPr>
          <a:xfrm>
            <a:off x="9634538" y="5139333"/>
            <a:ext cx="1528763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覆盖范围有限，无法检测室内其他区域</a:t>
            </a:r>
            <a:endParaRPr lang="en-US" sz="1050" dirty="0"/>
          </a:p>
        </p:txBody>
      </p:sp>
      <p:sp>
        <p:nvSpPr>
          <p:cNvPr id="62" name="SK-3-text-61"/>
          <p:cNvSpPr/>
          <p:nvPr/>
        </p:nvSpPr>
        <p:spPr>
          <a:xfrm>
            <a:off x="962025" y="4319306"/>
            <a:ext cx="10572750" cy="2970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340"/>
              </a:lnSpc>
              <a:buNone/>
            </a:pPr>
            <a:r>
              <a:rPr lang="en-US" sz="1800" b="1" dirty="0" err="1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解决方案</a:t>
            </a:r>
            <a:r>
              <a:rPr lang="en-US" sz="18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</a:p>
          <a:p>
            <a:pPr marL="0" indent="0">
              <a:lnSpc>
                <a:spcPts val="2340"/>
              </a:lnSpc>
              <a:buNone/>
            </a:pPr>
            <a:r>
              <a:rPr lang="en-US" sz="1800" b="1" dirty="0" err="1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主动检测</a:t>
            </a:r>
            <a:r>
              <a:rPr lang="en-US" sz="18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自动上报 + 超低功耗</a:t>
            </a:r>
            <a:endParaRPr lang="en-US" sz="1800" dirty="0"/>
          </a:p>
        </p:txBody>
      </p:sp>
      <p:sp>
        <p:nvSpPr>
          <p:cNvPr id="63" name="SK-3-text-62"/>
          <p:cNvSpPr/>
          <p:nvPr/>
        </p:nvSpPr>
        <p:spPr>
          <a:xfrm>
            <a:off x="1619250" y="4792712"/>
            <a:ext cx="46291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 ESP32-C3 与mpu6050传感器，通过三段式状态机算法实现精准摔倒识别，无需人工干预，自动通过 </a:t>
            </a:r>
            <a:r>
              <a:rPr lang="en-US" sz="1350" dirty="0" err="1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WiFi</a:t>
            </a:r>
            <a:r>
              <a:rPr lang="en-US" sz="13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上报云端为救援争取宝贵时间</a:t>
            </a:r>
            <a:r>
              <a:rPr lang="en-US" sz="13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350" dirty="0"/>
          </a:p>
        </p:txBody>
      </p:sp>
      <p:sp>
        <p:nvSpPr>
          <p:cNvPr id="64" name="SK-3-text-63"/>
          <p:cNvSpPr/>
          <p:nvPr/>
        </p:nvSpPr>
        <p:spPr>
          <a:xfrm>
            <a:off x="2038350" y="5703168"/>
            <a:ext cx="9045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主动检测</a:t>
            </a:r>
            <a:endParaRPr lang="en-US" sz="1200" dirty="0"/>
          </a:p>
        </p:txBody>
      </p:sp>
      <p:sp>
        <p:nvSpPr>
          <p:cNvPr id="65" name="SK-3-text-64"/>
          <p:cNvSpPr/>
          <p:nvPr/>
        </p:nvSpPr>
        <p:spPr>
          <a:xfrm>
            <a:off x="3376766" y="5730105"/>
            <a:ext cx="9045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自动上报</a:t>
            </a:r>
            <a:endParaRPr lang="en-US" sz="1200" dirty="0"/>
          </a:p>
        </p:txBody>
      </p:sp>
      <p:sp>
        <p:nvSpPr>
          <p:cNvPr id="66" name="SK-3-text-65"/>
          <p:cNvSpPr/>
          <p:nvPr/>
        </p:nvSpPr>
        <p:spPr>
          <a:xfrm>
            <a:off x="4781550" y="5754985"/>
            <a:ext cx="9045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超低功耗</a:t>
            </a:r>
            <a:endParaRPr lang="en-US" sz="1200" dirty="0"/>
          </a:p>
        </p:txBody>
      </p:sp>
      <p:sp>
        <p:nvSpPr>
          <p:cNvPr id="67" name="SK-3-text-66"/>
          <p:cNvSpPr/>
          <p:nvPr/>
        </p:nvSpPr>
        <p:spPr>
          <a:xfrm>
            <a:off x="11442650" y="6610350"/>
            <a:ext cx="74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天工 AI 生成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4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1450"/>
            <a:ext cx="11277600" cy="685651"/>
          </a:xfrm>
          <a:prstGeom prst="rect">
            <a:avLst/>
          </a:prstGeom>
        </p:spPr>
      </p:pic>
      <p:pic>
        <p:nvPicPr>
          <p:cNvPr id="5" name="SK-4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99976"/>
            <a:ext cx="5448300" cy="4623346"/>
          </a:xfrm>
          <a:prstGeom prst="rect">
            <a:avLst/>
          </a:prstGeom>
        </p:spPr>
      </p:pic>
      <p:pic>
        <p:nvPicPr>
          <p:cNvPr id="6" name="SK-4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182737"/>
            <a:ext cx="333375" cy="266700"/>
          </a:xfrm>
          <a:prstGeom prst="rect">
            <a:avLst/>
          </a:prstGeom>
        </p:spPr>
      </p:pic>
      <p:pic>
        <p:nvPicPr>
          <p:cNvPr id="7" name="SK-4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13297"/>
            <a:ext cx="4972050" cy="3867150"/>
          </a:xfrm>
          <a:prstGeom prst="rect">
            <a:avLst/>
          </a:prstGeom>
        </p:spPr>
      </p:pic>
      <p:pic>
        <p:nvPicPr>
          <p:cNvPr id="8" name="SK-4-img-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999976"/>
            <a:ext cx="5448300" cy="4623346"/>
          </a:xfrm>
          <a:prstGeom prst="rect">
            <a:avLst/>
          </a:prstGeom>
        </p:spPr>
      </p:pic>
      <p:pic>
        <p:nvPicPr>
          <p:cNvPr id="9" name="SK-4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0" y="1182737"/>
            <a:ext cx="333375" cy="266700"/>
          </a:xfrm>
          <a:prstGeom prst="rect">
            <a:avLst/>
          </a:prstGeom>
        </p:spPr>
      </p:pic>
      <p:pic>
        <p:nvPicPr>
          <p:cNvPr id="10" name="SK-4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5100" y="1613297"/>
            <a:ext cx="4991100" cy="897136"/>
          </a:xfrm>
          <a:prstGeom prst="rect">
            <a:avLst/>
          </a:prstGeom>
        </p:spPr>
      </p:pic>
      <p:pic>
        <p:nvPicPr>
          <p:cNvPr id="11" name="SK-4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1632347"/>
            <a:ext cx="238125" cy="190500"/>
          </a:xfrm>
          <a:prstGeom prst="rect">
            <a:avLst/>
          </a:prstGeom>
        </p:spPr>
      </p:pic>
      <p:pic>
        <p:nvPicPr>
          <p:cNvPr id="12" name="SK-4-img-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5100" y="2634258"/>
            <a:ext cx="4991100" cy="897136"/>
          </a:xfrm>
          <a:prstGeom prst="rect">
            <a:avLst/>
          </a:prstGeom>
        </p:spPr>
      </p:pic>
      <p:pic>
        <p:nvPicPr>
          <p:cNvPr id="13" name="SK-4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5100" y="2653308"/>
            <a:ext cx="238125" cy="190500"/>
          </a:xfrm>
          <a:prstGeom prst="rect">
            <a:avLst/>
          </a:prstGeom>
        </p:spPr>
      </p:pic>
      <p:pic>
        <p:nvPicPr>
          <p:cNvPr id="14" name="SK-4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5100" y="3655219"/>
            <a:ext cx="4991100" cy="897136"/>
          </a:xfrm>
          <a:prstGeom prst="rect">
            <a:avLst/>
          </a:prstGeom>
        </p:spPr>
      </p:pic>
      <p:pic>
        <p:nvPicPr>
          <p:cNvPr id="15" name="SK-4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5100" y="3674269"/>
            <a:ext cx="238125" cy="190500"/>
          </a:xfrm>
          <a:prstGeom prst="rect">
            <a:avLst/>
          </a:prstGeom>
        </p:spPr>
      </p:pic>
      <p:pic>
        <p:nvPicPr>
          <p:cNvPr id="16" name="SK-4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15100" y="4695230"/>
            <a:ext cx="238125" cy="190500"/>
          </a:xfrm>
          <a:prstGeom prst="rect">
            <a:avLst/>
          </a:prstGeom>
        </p:spPr>
      </p:pic>
      <p:pic>
        <p:nvPicPr>
          <p:cNvPr id="17" name="SK-4-img-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5823347"/>
            <a:ext cx="11277600" cy="800100"/>
          </a:xfrm>
          <a:prstGeom prst="rect">
            <a:avLst/>
          </a:prstGeom>
        </p:spPr>
      </p:pic>
      <p:pic>
        <p:nvPicPr>
          <p:cNvPr id="18" name="SK-4-img-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6090047"/>
            <a:ext cx="333375" cy="266700"/>
          </a:xfrm>
          <a:prstGeom prst="rect">
            <a:avLst/>
          </a:prstGeom>
        </p:spPr>
      </p:pic>
      <p:pic>
        <p:nvPicPr>
          <p:cNvPr id="19" name="SK-4-img-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0" name="SK-4-text-19"/>
          <p:cNvSpPr/>
          <p:nvPr/>
        </p:nvSpPr>
        <p:spPr>
          <a:xfrm>
            <a:off x="647700" y="171450"/>
            <a:ext cx="11087100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摔倒报警器：三段式状态机检测算法</a:t>
            </a:r>
            <a:endParaRPr lang="en-US" sz="2550" dirty="0"/>
          </a:p>
        </p:txBody>
      </p:sp>
      <p:sp>
        <p:nvSpPr>
          <p:cNvPr id="21" name="SK-4-text-20"/>
          <p:cNvSpPr/>
          <p:nvPr/>
        </p:nvSpPr>
        <p:spPr>
          <a:xfrm>
            <a:off x="647700" y="617190"/>
            <a:ext cx="11087100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阐述失重撞击与静止确认逻辑，实现精准识别与WiFi实时上报</a:t>
            </a:r>
            <a:endParaRPr lang="en-US" sz="1350" dirty="0"/>
          </a:p>
        </p:txBody>
      </p:sp>
      <p:sp>
        <p:nvSpPr>
          <p:cNvPr id="22" name="SK-4-text-21"/>
          <p:cNvSpPr/>
          <p:nvPr/>
        </p:nvSpPr>
        <p:spPr>
          <a:xfrm>
            <a:off x="1114425" y="1142851"/>
            <a:ext cx="4991100" cy="3466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算法状态流转</a:t>
            </a:r>
            <a:endParaRPr lang="en-US" sz="2100" dirty="0"/>
          </a:p>
        </p:txBody>
      </p:sp>
      <p:sp>
        <p:nvSpPr>
          <p:cNvPr id="23" name="SK-4-text-22"/>
          <p:cNvSpPr/>
          <p:nvPr/>
        </p:nvSpPr>
        <p:spPr>
          <a:xfrm>
            <a:off x="6943725" y="1142851"/>
            <a:ext cx="4991100" cy="3466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核心检测逻辑与阈值</a:t>
            </a:r>
            <a:endParaRPr lang="en-US" sz="2100" dirty="0"/>
          </a:p>
        </p:txBody>
      </p:sp>
      <p:sp>
        <p:nvSpPr>
          <p:cNvPr id="24" name="SK-4-text-23"/>
          <p:cNvSpPr/>
          <p:nvPr/>
        </p:nvSpPr>
        <p:spPr>
          <a:xfrm>
            <a:off x="6867525" y="1613297"/>
            <a:ext cx="4638675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失重检测 (FREEFALL)</a:t>
            </a:r>
            <a:endParaRPr lang="en-US" sz="1350" dirty="0"/>
          </a:p>
        </p:txBody>
      </p:sp>
      <p:sp>
        <p:nvSpPr>
          <p:cNvPr id="25" name="SK-4-text-24"/>
          <p:cNvSpPr/>
          <p:nvPr/>
        </p:nvSpPr>
        <p:spPr>
          <a:xfrm>
            <a:off x="6867525" y="1891308"/>
            <a:ext cx="4638675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三轴加速度绝对值之和从静止时的</a:t>
            </a: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~16000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骤降至</a:t>
            </a: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 4000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，触发状态转换。</a:t>
            </a:r>
            <a:endParaRPr lang="en-US" sz="1200" dirty="0"/>
          </a:p>
        </p:txBody>
      </p:sp>
      <p:sp>
        <p:nvSpPr>
          <p:cNvPr id="26" name="SK-4-text-25"/>
          <p:cNvSpPr/>
          <p:nvPr/>
        </p:nvSpPr>
        <p:spPr>
          <a:xfrm>
            <a:off x="6867525" y="2634258"/>
            <a:ext cx="4638675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撞击确认 (IMPACT)</a:t>
            </a:r>
            <a:endParaRPr lang="en-US" sz="1350" dirty="0"/>
          </a:p>
        </p:txBody>
      </p:sp>
      <p:sp>
        <p:nvSpPr>
          <p:cNvPr id="27" name="SK-4-text-26"/>
          <p:cNvSpPr/>
          <p:nvPr/>
        </p:nvSpPr>
        <p:spPr>
          <a:xfrm>
            <a:off x="6867525" y="2912269"/>
            <a:ext cx="4638675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合成加速度发生突变，数值超过</a:t>
            </a: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30000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，标志着身体与地面发生接触。</a:t>
            </a:r>
            <a:endParaRPr lang="en-US" sz="1200" dirty="0"/>
          </a:p>
        </p:txBody>
      </p:sp>
      <p:sp>
        <p:nvSpPr>
          <p:cNvPr id="28" name="SK-4-text-27"/>
          <p:cNvSpPr/>
          <p:nvPr/>
        </p:nvSpPr>
        <p:spPr>
          <a:xfrm>
            <a:off x="6867525" y="3655219"/>
            <a:ext cx="4638675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静止确认 (5秒静止)</a:t>
            </a:r>
            <a:endParaRPr lang="en-US" sz="1350" dirty="0"/>
          </a:p>
        </p:txBody>
      </p:sp>
      <p:sp>
        <p:nvSpPr>
          <p:cNvPr id="29" name="SK-4-text-28"/>
          <p:cNvSpPr/>
          <p:nvPr/>
        </p:nvSpPr>
        <p:spPr>
          <a:xfrm>
            <a:off x="6867525" y="3933230"/>
            <a:ext cx="4638675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撞击后，三轴变化范围持续</a:t>
            </a: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 1500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达</a:t>
            </a: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5秒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，判定为无法自主起身，触发报警。</a:t>
            </a:r>
            <a:endParaRPr lang="en-US" sz="1200" dirty="0"/>
          </a:p>
        </p:txBody>
      </p:sp>
      <p:sp>
        <p:nvSpPr>
          <p:cNvPr id="30" name="SK-4-text-29"/>
          <p:cNvSpPr/>
          <p:nvPr/>
        </p:nvSpPr>
        <p:spPr>
          <a:xfrm>
            <a:off x="6867525" y="4676180"/>
            <a:ext cx="4638675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活动取消机制</a:t>
            </a:r>
            <a:endParaRPr lang="en-US" sz="1350" dirty="0"/>
          </a:p>
        </p:txBody>
      </p:sp>
      <p:sp>
        <p:nvSpPr>
          <p:cNvPr id="31" name="SK-4-text-30"/>
          <p:cNvSpPr/>
          <p:nvPr/>
        </p:nvSpPr>
        <p:spPr>
          <a:xfrm>
            <a:off x="6867525" y="4954191"/>
            <a:ext cx="4638675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在任何非静止阶段（如失重或撞击后），若检测到大幅度活动，状态机将安全返回</a:t>
            </a: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IDLE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状态，避免误报。</a:t>
            </a:r>
            <a:endParaRPr lang="en-US" sz="1200" dirty="0"/>
          </a:p>
        </p:txBody>
      </p:sp>
      <p:sp>
        <p:nvSpPr>
          <p:cNvPr id="32" name="SK-4-text-31"/>
          <p:cNvSpPr/>
          <p:nvPr/>
        </p:nvSpPr>
        <p:spPr>
          <a:xfrm>
            <a:off x="1171575" y="5947172"/>
            <a:ext cx="10334625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算法判定为“摔倒”后，设备立即唤醒WiFi模块，通过</a:t>
            </a:r>
            <a:r>
              <a:rPr lang="en-US" sz="135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MQTT/HTTP</a:t>
            </a:r>
            <a:r>
              <a:rPr lang="en-US" sz="1350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协议将报警信息（设备ID、加速度强度、时间戳）实时上报至云端服务器或本地中控台，实现秒级报警响应。</a:t>
            </a:r>
            <a:endParaRPr lang="en-US" sz="1350" dirty="0"/>
          </a:p>
        </p:txBody>
      </p:sp>
      <p:sp>
        <p:nvSpPr>
          <p:cNvPr id="33" name="SK-4-text-32"/>
          <p:cNvSpPr/>
          <p:nvPr/>
        </p:nvSpPr>
        <p:spPr>
          <a:xfrm>
            <a:off x="11442650" y="6610350"/>
            <a:ext cx="74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天工 AI 生成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5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6700"/>
            <a:ext cx="11277600" cy="685651"/>
          </a:xfrm>
          <a:prstGeom prst="rect">
            <a:avLst/>
          </a:prstGeom>
        </p:spPr>
      </p:pic>
      <p:pic>
        <p:nvPicPr>
          <p:cNvPr id="5" name="SK-5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80951"/>
            <a:ext cx="5448300" cy="3703141"/>
          </a:xfrm>
          <a:prstGeom prst="rect">
            <a:avLst/>
          </a:prstGeom>
        </p:spPr>
      </p:pic>
      <p:pic>
        <p:nvPicPr>
          <p:cNvPr id="6" name="SK-5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516112"/>
            <a:ext cx="285750" cy="228600"/>
          </a:xfrm>
          <a:prstGeom prst="rect">
            <a:avLst/>
          </a:prstGeom>
        </p:spPr>
      </p:pic>
      <p:pic>
        <p:nvPicPr>
          <p:cNvPr id="7" name="SK-5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2078980"/>
            <a:ext cx="214313" cy="175320"/>
          </a:xfrm>
          <a:prstGeom prst="rect">
            <a:avLst/>
          </a:prstGeom>
        </p:spPr>
      </p:pic>
      <p:pic>
        <p:nvPicPr>
          <p:cNvPr id="8" name="SK-5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2753320"/>
            <a:ext cx="214313" cy="175320"/>
          </a:xfrm>
          <a:prstGeom prst="rect">
            <a:avLst/>
          </a:prstGeom>
        </p:spPr>
      </p:pic>
      <p:pic>
        <p:nvPicPr>
          <p:cNvPr id="9" name="SK-5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3427661"/>
            <a:ext cx="214313" cy="175320"/>
          </a:xfrm>
          <a:prstGeom prst="rect">
            <a:avLst/>
          </a:prstGeom>
        </p:spPr>
      </p:pic>
      <p:pic>
        <p:nvPicPr>
          <p:cNvPr id="10" name="SK-5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4160193"/>
            <a:ext cx="1590526" cy="457200"/>
          </a:xfrm>
          <a:prstGeom prst="rect">
            <a:avLst/>
          </a:prstGeom>
        </p:spPr>
      </p:pic>
      <p:pic>
        <p:nvPicPr>
          <p:cNvPr id="11" name="SK-5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0" y="1180951"/>
            <a:ext cx="5448300" cy="3703141"/>
          </a:xfrm>
          <a:prstGeom prst="rect">
            <a:avLst/>
          </a:prstGeom>
        </p:spPr>
      </p:pic>
      <p:pic>
        <p:nvPicPr>
          <p:cNvPr id="12" name="SK-5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1516112"/>
            <a:ext cx="285750" cy="228600"/>
          </a:xfrm>
          <a:prstGeom prst="rect">
            <a:avLst/>
          </a:prstGeom>
        </p:spPr>
      </p:pic>
      <p:pic>
        <p:nvPicPr>
          <p:cNvPr id="13" name="SK-5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2078980"/>
            <a:ext cx="214313" cy="175320"/>
          </a:xfrm>
          <a:prstGeom prst="rect">
            <a:avLst/>
          </a:prstGeom>
        </p:spPr>
      </p:pic>
      <p:pic>
        <p:nvPicPr>
          <p:cNvPr id="14" name="SK-5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2810470"/>
            <a:ext cx="214313" cy="175320"/>
          </a:xfrm>
          <a:prstGeom prst="rect">
            <a:avLst/>
          </a:prstGeom>
        </p:spPr>
      </p:pic>
      <p:pic>
        <p:nvPicPr>
          <p:cNvPr id="15" name="SK-5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3562052"/>
            <a:ext cx="1511350" cy="868561"/>
          </a:xfrm>
          <a:prstGeom prst="rect">
            <a:avLst/>
          </a:prstGeom>
        </p:spPr>
      </p:pic>
      <p:pic>
        <p:nvPicPr>
          <p:cNvPr id="16" name="SK-5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55050" y="3562052"/>
            <a:ext cx="1511350" cy="868561"/>
          </a:xfrm>
          <a:prstGeom prst="rect">
            <a:avLst/>
          </a:prstGeom>
        </p:spPr>
      </p:pic>
      <p:pic>
        <p:nvPicPr>
          <p:cNvPr id="17" name="SK-5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56899" y="3562052"/>
            <a:ext cx="1511350" cy="868561"/>
          </a:xfrm>
          <a:prstGeom prst="rect">
            <a:avLst/>
          </a:prstGeom>
        </p:spPr>
      </p:pic>
      <p:pic>
        <p:nvPicPr>
          <p:cNvPr id="18" name="SK-5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19625" y="5284143"/>
            <a:ext cx="1333500" cy="1333500"/>
          </a:xfrm>
          <a:prstGeom prst="rect">
            <a:avLst/>
          </a:prstGeom>
        </p:spPr>
      </p:pic>
      <p:pic>
        <p:nvPicPr>
          <p:cNvPr id="19" name="SK-5-img-18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4669797" y="5284143"/>
            <a:ext cx="1233155" cy="1333500"/>
          </a:xfrm>
          <a:prstGeom prst="rect">
            <a:avLst/>
          </a:prstGeom>
        </p:spPr>
      </p:pic>
      <p:pic>
        <p:nvPicPr>
          <p:cNvPr id="20" name="SK-5-img-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38875" y="5284143"/>
            <a:ext cx="1333500" cy="1333500"/>
          </a:xfrm>
          <a:prstGeom prst="rect">
            <a:avLst/>
          </a:prstGeom>
        </p:spPr>
      </p:pic>
      <p:pic>
        <p:nvPicPr>
          <p:cNvPr id="21" name="SK-5-img-20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6238875" y="5348602"/>
            <a:ext cx="1333500" cy="1204581"/>
          </a:xfrm>
          <a:prstGeom prst="rect">
            <a:avLst/>
          </a:prstGeom>
        </p:spPr>
      </p:pic>
      <p:pic>
        <p:nvPicPr>
          <p:cNvPr id="22" name="SK-5-img-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3" name="SK-5-text-22"/>
          <p:cNvSpPr/>
          <p:nvPr/>
        </p:nvSpPr>
        <p:spPr>
          <a:xfrm>
            <a:off x="647700" y="266700"/>
            <a:ext cx="11087100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摔倒报警器：硬件架构与实测表现</a:t>
            </a:r>
            <a:endParaRPr lang="en-US" sz="2550" dirty="0"/>
          </a:p>
        </p:txBody>
      </p:sp>
      <p:sp>
        <p:nvSpPr>
          <p:cNvPr id="24" name="SK-5-text-23"/>
          <p:cNvSpPr/>
          <p:nvPr/>
        </p:nvSpPr>
        <p:spPr>
          <a:xfrm>
            <a:off x="647700" y="712440"/>
            <a:ext cx="11087100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采用低成本硬件方案，实测验证日常动作零误报与秒级报警能力</a:t>
            </a:r>
            <a:endParaRPr lang="en-US" sz="1350" dirty="0"/>
          </a:p>
        </p:txBody>
      </p:sp>
      <p:sp>
        <p:nvSpPr>
          <p:cNvPr id="25" name="SK-5-text-24"/>
          <p:cNvSpPr/>
          <p:nvPr/>
        </p:nvSpPr>
        <p:spPr>
          <a:xfrm>
            <a:off x="1104900" y="1447651"/>
            <a:ext cx="4914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硬件选型与成本控制</a:t>
            </a:r>
            <a:endParaRPr lang="en-US" sz="1800" dirty="0"/>
          </a:p>
        </p:txBody>
      </p:sp>
      <p:sp>
        <p:nvSpPr>
          <p:cNvPr id="26" name="SK-5-text-25"/>
          <p:cNvSpPr/>
          <p:nvPr/>
        </p:nvSpPr>
        <p:spPr>
          <a:xfrm>
            <a:off x="1052513" y="2003822"/>
            <a:ext cx="4586288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ESP32-C3 主控</a:t>
            </a:r>
            <a:endParaRPr lang="en-US" sz="1350" dirty="0"/>
          </a:p>
        </p:txBody>
      </p:sp>
      <p:sp>
        <p:nvSpPr>
          <p:cNvPr id="27" name="SK-5-text-26"/>
          <p:cNvSpPr/>
          <p:nvPr/>
        </p:nvSpPr>
        <p:spPr>
          <a:xfrm>
            <a:off x="1052513" y="2297162"/>
            <a:ext cx="6035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RISC-V架构，集成WiFi/蓝牙双模，约15元</a:t>
            </a:r>
            <a:endParaRPr lang="en-US" sz="1200" dirty="0"/>
          </a:p>
        </p:txBody>
      </p:sp>
      <p:sp>
        <p:nvSpPr>
          <p:cNvPr id="28" name="SK-5-text-27"/>
          <p:cNvSpPr/>
          <p:nvPr/>
        </p:nvSpPr>
        <p:spPr>
          <a:xfrm>
            <a:off x="1052513" y="2678162"/>
            <a:ext cx="4586288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MPU6050 传感器</a:t>
            </a:r>
            <a:endParaRPr lang="en-US" sz="1350" dirty="0"/>
          </a:p>
        </p:txBody>
      </p:sp>
      <p:sp>
        <p:nvSpPr>
          <p:cNvPr id="29" name="SK-5-text-28"/>
          <p:cNvSpPr/>
          <p:nvPr/>
        </p:nvSpPr>
        <p:spPr>
          <a:xfrm>
            <a:off x="1052513" y="2971502"/>
            <a:ext cx="6217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6轴惯性测量单元（加速度+陀螺仪），约10元</a:t>
            </a:r>
            <a:endParaRPr lang="en-US" sz="1200" dirty="0"/>
          </a:p>
        </p:txBody>
      </p:sp>
      <p:sp>
        <p:nvSpPr>
          <p:cNvPr id="30" name="SK-5-text-29"/>
          <p:cNvSpPr/>
          <p:nvPr/>
        </p:nvSpPr>
        <p:spPr>
          <a:xfrm>
            <a:off x="1052513" y="3352502"/>
            <a:ext cx="4586288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CR2032 纽扣电池</a:t>
            </a:r>
            <a:endParaRPr lang="en-US" sz="1350" dirty="0"/>
          </a:p>
        </p:txBody>
      </p:sp>
      <p:sp>
        <p:nvSpPr>
          <p:cNvPr id="31" name="SK-5-text-30"/>
          <p:cNvSpPr/>
          <p:nvPr/>
        </p:nvSpPr>
        <p:spPr>
          <a:xfrm>
            <a:off x="1052513" y="3645843"/>
            <a:ext cx="48158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3V供电，超低功耗设计核心，约2元</a:t>
            </a:r>
            <a:endParaRPr lang="en-US" sz="1200" dirty="0"/>
          </a:p>
        </p:txBody>
      </p:sp>
      <p:sp>
        <p:nvSpPr>
          <p:cNvPr id="32" name="SK-5-text-31"/>
          <p:cNvSpPr/>
          <p:nvPr/>
        </p:nvSpPr>
        <p:spPr>
          <a:xfrm>
            <a:off x="914400" y="4255443"/>
            <a:ext cx="120952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总成本 ≈ 30元</a:t>
            </a:r>
            <a:endParaRPr lang="en-US" sz="1500" dirty="0"/>
          </a:p>
        </p:txBody>
      </p:sp>
      <p:sp>
        <p:nvSpPr>
          <p:cNvPr id="33" name="SK-5-text-32"/>
          <p:cNvSpPr/>
          <p:nvPr/>
        </p:nvSpPr>
        <p:spPr>
          <a:xfrm>
            <a:off x="6934200" y="1447651"/>
            <a:ext cx="49149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实测验证与性能指标</a:t>
            </a:r>
            <a:endParaRPr lang="en-US" sz="1800" dirty="0"/>
          </a:p>
        </p:txBody>
      </p:sp>
      <p:sp>
        <p:nvSpPr>
          <p:cNvPr id="34" name="SK-5-text-33"/>
          <p:cNvSpPr/>
          <p:nvPr/>
        </p:nvSpPr>
        <p:spPr>
          <a:xfrm>
            <a:off x="6881813" y="2003822"/>
            <a:ext cx="4586288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日常动作零误报</a:t>
            </a:r>
            <a:endParaRPr lang="en-US" sz="1350" dirty="0"/>
          </a:p>
        </p:txBody>
      </p:sp>
      <p:sp>
        <p:nvSpPr>
          <p:cNvPr id="35" name="SK-5-text-34"/>
          <p:cNvSpPr/>
          <p:nvPr/>
        </p:nvSpPr>
        <p:spPr>
          <a:xfrm>
            <a:off x="6881813" y="2316212"/>
            <a:ext cx="53101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正常行走、弯腰、快速下蹲等动作均未触发报警，算法有效过滤</a:t>
            </a:r>
            <a:endParaRPr lang="en-US" sz="1200" dirty="0"/>
          </a:p>
        </p:txBody>
      </p:sp>
      <p:sp>
        <p:nvSpPr>
          <p:cNvPr id="36" name="SK-5-text-35"/>
          <p:cNvSpPr/>
          <p:nvPr/>
        </p:nvSpPr>
        <p:spPr>
          <a:xfrm>
            <a:off x="6881813" y="2735312"/>
            <a:ext cx="4586288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模拟摔倒秒级报警</a:t>
            </a:r>
            <a:endParaRPr lang="en-US" sz="1350" dirty="0"/>
          </a:p>
        </p:txBody>
      </p:sp>
      <p:sp>
        <p:nvSpPr>
          <p:cNvPr id="37" name="SK-5-text-36"/>
          <p:cNvSpPr/>
          <p:nvPr/>
        </p:nvSpPr>
        <p:spPr>
          <a:xfrm>
            <a:off x="6881813" y="3047702"/>
            <a:ext cx="53101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模拟快速摔倒场景，系统在2秒内完成检测并上报中控台</a:t>
            </a:r>
            <a:endParaRPr lang="en-US" sz="1200" dirty="0"/>
          </a:p>
        </p:txBody>
      </p:sp>
      <p:sp>
        <p:nvSpPr>
          <p:cNvPr id="38" name="SK-5-text-37"/>
          <p:cNvSpPr/>
          <p:nvPr/>
        </p:nvSpPr>
        <p:spPr>
          <a:xfrm>
            <a:off x="6705600" y="3714452"/>
            <a:ext cx="1206550" cy="3199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 5%</a:t>
            </a:r>
            <a:endParaRPr lang="en-US" sz="2100" dirty="0"/>
          </a:p>
        </p:txBody>
      </p:sp>
      <p:sp>
        <p:nvSpPr>
          <p:cNvPr id="39" name="SK-5-text-38"/>
          <p:cNvSpPr/>
          <p:nvPr/>
        </p:nvSpPr>
        <p:spPr>
          <a:xfrm>
            <a:off x="6705600" y="4091583"/>
            <a:ext cx="1206550" cy="1866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误报率</a:t>
            </a:r>
            <a:endParaRPr lang="en-US" sz="1050" dirty="0"/>
          </a:p>
        </p:txBody>
      </p:sp>
      <p:sp>
        <p:nvSpPr>
          <p:cNvPr id="40" name="SK-5-text-39"/>
          <p:cNvSpPr/>
          <p:nvPr/>
        </p:nvSpPr>
        <p:spPr>
          <a:xfrm>
            <a:off x="8407450" y="3714452"/>
            <a:ext cx="1206550" cy="3199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50+</a:t>
            </a:r>
            <a:endParaRPr lang="en-US" sz="2100" dirty="0"/>
          </a:p>
        </p:txBody>
      </p:sp>
      <p:sp>
        <p:nvSpPr>
          <p:cNvPr id="41" name="SK-5-text-40"/>
          <p:cNvSpPr/>
          <p:nvPr/>
        </p:nvSpPr>
        <p:spPr>
          <a:xfrm>
            <a:off x="8407450" y="4091583"/>
            <a:ext cx="1206550" cy="1866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测试次数</a:t>
            </a:r>
            <a:endParaRPr lang="en-US" sz="1050" dirty="0"/>
          </a:p>
        </p:txBody>
      </p:sp>
      <p:sp>
        <p:nvSpPr>
          <p:cNvPr id="42" name="SK-5-text-41"/>
          <p:cNvSpPr/>
          <p:nvPr/>
        </p:nvSpPr>
        <p:spPr>
          <a:xfrm>
            <a:off x="10109299" y="3714452"/>
            <a:ext cx="1206550" cy="3199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95%+</a:t>
            </a:r>
            <a:endParaRPr lang="en-US" sz="2100" dirty="0"/>
          </a:p>
        </p:txBody>
      </p:sp>
      <p:sp>
        <p:nvSpPr>
          <p:cNvPr id="43" name="SK-5-text-42"/>
          <p:cNvSpPr/>
          <p:nvPr/>
        </p:nvSpPr>
        <p:spPr>
          <a:xfrm>
            <a:off x="10109299" y="4091583"/>
            <a:ext cx="1206550" cy="1866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识别准确率</a:t>
            </a:r>
            <a:endParaRPr lang="en-US" sz="1050" dirty="0"/>
          </a:p>
        </p:txBody>
      </p:sp>
      <p:sp>
        <p:nvSpPr>
          <p:cNvPr id="44" name="SK-5-text-43"/>
          <p:cNvSpPr/>
          <p:nvPr/>
        </p:nvSpPr>
        <p:spPr>
          <a:xfrm>
            <a:off x="4619625" y="6674793"/>
            <a:ext cx="1333500" cy="1370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ESP32-C3 主控芯片</a:t>
            </a:r>
            <a:endParaRPr lang="en-US" sz="900" dirty="0"/>
          </a:p>
        </p:txBody>
      </p:sp>
      <p:sp>
        <p:nvSpPr>
          <p:cNvPr id="45" name="SK-5-text-44"/>
          <p:cNvSpPr/>
          <p:nvPr/>
        </p:nvSpPr>
        <p:spPr>
          <a:xfrm>
            <a:off x="6238875" y="6674793"/>
            <a:ext cx="1333500" cy="1370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MPU6050 六轴传感器</a:t>
            </a:r>
            <a:endParaRPr lang="en-US" sz="900" dirty="0"/>
          </a:p>
        </p:txBody>
      </p:sp>
      <p:sp>
        <p:nvSpPr>
          <p:cNvPr id="46" name="SK-5-text-45"/>
          <p:cNvSpPr/>
          <p:nvPr/>
        </p:nvSpPr>
        <p:spPr>
          <a:xfrm>
            <a:off x="11442650" y="6610350"/>
            <a:ext cx="74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天工 AI 生成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6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09550"/>
            <a:ext cx="11277600" cy="685651"/>
          </a:xfrm>
          <a:prstGeom prst="rect">
            <a:avLst/>
          </a:prstGeom>
        </p:spPr>
      </p:pic>
      <p:pic>
        <p:nvPicPr>
          <p:cNvPr id="5" name="SK-6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076176"/>
            <a:ext cx="5236964" cy="2667000"/>
          </a:xfrm>
          <a:prstGeom prst="rect">
            <a:avLst/>
          </a:prstGeom>
        </p:spPr>
      </p:pic>
      <p:pic>
        <p:nvPicPr>
          <p:cNvPr id="6" name="SK-6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339007"/>
            <a:ext cx="285750" cy="228600"/>
          </a:xfrm>
          <a:prstGeom prst="rect">
            <a:avLst/>
          </a:prstGeom>
        </p:spPr>
      </p:pic>
      <p:pic>
        <p:nvPicPr>
          <p:cNvPr id="7" name="SK-6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830437"/>
            <a:ext cx="166688" cy="137220"/>
          </a:xfrm>
          <a:prstGeom prst="rect">
            <a:avLst/>
          </a:prstGeom>
        </p:spPr>
      </p:pic>
      <p:pic>
        <p:nvPicPr>
          <p:cNvPr id="8" name="SK-6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531418"/>
            <a:ext cx="166688" cy="137220"/>
          </a:xfrm>
          <a:prstGeom prst="rect">
            <a:avLst/>
          </a:prstGeom>
        </p:spPr>
      </p:pic>
      <p:pic>
        <p:nvPicPr>
          <p:cNvPr id="9" name="SK-6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232398"/>
            <a:ext cx="166688" cy="137220"/>
          </a:xfrm>
          <a:prstGeom prst="rect">
            <a:avLst/>
          </a:prstGeom>
        </p:spPr>
      </p:pic>
      <p:pic>
        <p:nvPicPr>
          <p:cNvPr id="11" name="SK-6-img-10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279589" y="852119"/>
            <a:ext cx="2631779" cy="2926197"/>
          </a:xfrm>
          <a:prstGeom prst="rect">
            <a:avLst/>
          </a:prstGeom>
        </p:spPr>
      </p:pic>
      <p:pic>
        <p:nvPicPr>
          <p:cNvPr id="12" name="SK-6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3924151"/>
            <a:ext cx="11277600" cy="2881908"/>
          </a:xfrm>
          <a:prstGeom prst="rect">
            <a:avLst/>
          </a:prstGeom>
        </p:spPr>
      </p:pic>
      <p:pic>
        <p:nvPicPr>
          <p:cNvPr id="13" name="SK-6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4139357"/>
            <a:ext cx="285750" cy="228600"/>
          </a:xfrm>
          <a:prstGeom prst="rect">
            <a:avLst/>
          </a:prstGeom>
        </p:spPr>
      </p:pic>
      <p:pic>
        <p:nvPicPr>
          <p:cNvPr id="14" name="SK-6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4554587"/>
            <a:ext cx="5314950" cy="973336"/>
          </a:xfrm>
          <a:prstGeom prst="rect">
            <a:avLst/>
          </a:prstGeom>
        </p:spPr>
      </p:pic>
      <p:pic>
        <p:nvPicPr>
          <p:cNvPr id="15" name="SK-6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200" y="4697462"/>
            <a:ext cx="214313" cy="175320"/>
          </a:xfrm>
          <a:prstGeom prst="rect">
            <a:avLst/>
          </a:prstGeom>
        </p:spPr>
      </p:pic>
      <p:pic>
        <p:nvPicPr>
          <p:cNvPr id="16" name="SK-6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5651748"/>
            <a:ext cx="5314950" cy="973336"/>
          </a:xfrm>
          <a:prstGeom prst="rect">
            <a:avLst/>
          </a:prstGeom>
        </p:spPr>
      </p:pic>
      <p:pic>
        <p:nvPicPr>
          <p:cNvPr id="17" name="SK-6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200" y="5794623"/>
            <a:ext cx="214313" cy="175320"/>
          </a:xfrm>
          <a:prstGeom prst="rect">
            <a:avLst/>
          </a:prstGeom>
        </p:spPr>
      </p:pic>
      <p:pic>
        <p:nvPicPr>
          <p:cNvPr id="18" name="SK-6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91250" y="4554587"/>
            <a:ext cx="5314950" cy="973336"/>
          </a:xfrm>
          <a:prstGeom prst="rect">
            <a:avLst/>
          </a:prstGeom>
        </p:spPr>
      </p:pic>
      <p:pic>
        <p:nvPicPr>
          <p:cNvPr id="19" name="SK-6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43650" y="4697462"/>
            <a:ext cx="214313" cy="175320"/>
          </a:xfrm>
          <a:prstGeom prst="rect">
            <a:avLst/>
          </a:prstGeom>
        </p:spPr>
      </p:pic>
      <p:pic>
        <p:nvPicPr>
          <p:cNvPr id="20" name="SK-6-img-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91250" y="5651748"/>
            <a:ext cx="5314950" cy="973336"/>
          </a:xfrm>
          <a:prstGeom prst="rect">
            <a:avLst/>
          </a:prstGeom>
        </p:spPr>
      </p:pic>
      <p:pic>
        <p:nvPicPr>
          <p:cNvPr id="21" name="SK-6-img-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43650" y="5794623"/>
            <a:ext cx="214313" cy="175320"/>
          </a:xfrm>
          <a:prstGeom prst="rect">
            <a:avLst/>
          </a:prstGeom>
        </p:spPr>
      </p:pic>
      <p:pic>
        <p:nvPicPr>
          <p:cNvPr id="22" name="SK-6-img-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3" name="SK-6-text-22"/>
          <p:cNvSpPr/>
          <p:nvPr/>
        </p:nvSpPr>
        <p:spPr>
          <a:xfrm>
            <a:off x="647700" y="209550"/>
            <a:ext cx="11087100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太阳能电子围栏：场景定位与系统架构</a:t>
            </a:r>
            <a:endParaRPr lang="en-US" sz="2550" dirty="0"/>
          </a:p>
        </p:txBody>
      </p:sp>
      <p:sp>
        <p:nvSpPr>
          <p:cNvPr id="24" name="SK-6-text-23"/>
          <p:cNvSpPr/>
          <p:nvPr/>
        </p:nvSpPr>
        <p:spPr>
          <a:xfrm>
            <a:off x="647700" y="655290"/>
            <a:ext cx="11087100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针对区域进出记录需求，采用太阳能供电与蓝牙多对多架构实现监测</a:t>
            </a:r>
            <a:endParaRPr lang="en-US" sz="1350" dirty="0"/>
          </a:p>
        </p:txBody>
      </p:sp>
      <p:sp>
        <p:nvSpPr>
          <p:cNvPr id="25" name="SK-6-text-24"/>
          <p:cNvSpPr/>
          <p:nvPr/>
        </p:nvSpPr>
        <p:spPr>
          <a:xfrm>
            <a:off x="1085850" y="1304776"/>
            <a:ext cx="4846320" cy="2970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场景定位：边界通过检测</a:t>
            </a:r>
            <a:endParaRPr lang="en-US" sz="1800" dirty="0"/>
          </a:p>
        </p:txBody>
      </p:sp>
      <p:sp>
        <p:nvSpPr>
          <p:cNvPr id="26" name="SK-6-text-25"/>
          <p:cNvSpPr/>
          <p:nvPr/>
        </p:nvSpPr>
        <p:spPr>
          <a:xfrm>
            <a:off x="947737" y="1792337"/>
            <a:ext cx="4517827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解决“特定区域人员/物品进出记录”问题，而非全区域连续追踪。</a:t>
            </a:r>
            <a:endParaRPr lang="en-US" sz="1350" dirty="0"/>
          </a:p>
        </p:txBody>
      </p:sp>
      <p:sp>
        <p:nvSpPr>
          <p:cNvPr id="27" name="SK-6-text-26"/>
          <p:cNvSpPr/>
          <p:nvPr/>
        </p:nvSpPr>
        <p:spPr>
          <a:xfrm>
            <a:off x="947737" y="2493318"/>
            <a:ext cx="4517827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现有方案局限：摄像头（需布线+隐私问题）、红外对射（仅计数）、GPS（功耗高+室内无效）。</a:t>
            </a:r>
            <a:endParaRPr lang="en-US" sz="1350" dirty="0"/>
          </a:p>
        </p:txBody>
      </p:sp>
      <p:sp>
        <p:nvSpPr>
          <p:cNvPr id="28" name="SK-6-text-27"/>
          <p:cNvSpPr/>
          <p:nvPr/>
        </p:nvSpPr>
        <p:spPr>
          <a:xfrm>
            <a:off x="947737" y="3194298"/>
            <a:ext cx="8023860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我们的方案：</a:t>
            </a:r>
            <a:r>
              <a:rPr lang="en-US" sz="135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低功耗、无接触、低成本</a:t>
            </a:r>
            <a:r>
              <a:rPr lang="en-US" sz="13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的边界监测系统。</a:t>
            </a:r>
            <a:endParaRPr lang="en-US" sz="1350" dirty="0"/>
          </a:p>
        </p:txBody>
      </p:sp>
      <p:sp>
        <p:nvSpPr>
          <p:cNvPr id="29" name="SK-6-text-28"/>
          <p:cNvSpPr/>
          <p:nvPr/>
        </p:nvSpPr>
        <p:spPr>
          <a:xfrm>
            <a:off x="1085850" y="4105126"/>
            <a:ext cx="4114800" cy="2970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多对多蓝牙系统架构</a:t>
            </a:r>
            <a:endParaRPr lang="en-US" sz="1800" dirty="0"/>
          </a:p>
        </p:txBody>
      </p:sp>
      <p:sp>
        <p:nvSpPr>
          <p:cNvPr id="30" name="SK-6-text-29"/>
          <p:cNvSpPr/>
          <p:nvPr/>
        </p:nvSpPr>
        <p:spPr>
          <a:xfrm>
            <a:off x="1166813" y="4678412"/>
            <a:ext cx="4681538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围栏桩子（监测节点）</a:t>
            </a:r>
            <a:endParaRPr lang="en-US" sz="1350" dirty="0"/>
          </a:p>
        </p:txBody>
      </p:sp>
      <p:sp>
        <p:nvSpPr>
          <p:cNvPr id="31" name="SK-6-text-30"/>
          <p:cNvSpPr/>
          <p:nvPr/>
        </p:nvSpPr>
        <p:spPr>
          <a:xfrm>
            <a:off x="1166813" y="4946898"/>
            <a:ext cx="468153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太阳能板供电 → TP4056充电 → </a:t>
            </a: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18650电池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ESP32-C3（扫描+存储）。单点成本约</a:t>
            </a: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60元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200" dirty="0"/>
          </a:p>
        </p:txBody>
      </p:sp>
      <p:sp>
        <p:nvSpPr>
          <p:cNvPr id="32" name="SK-6-text-31"/>
          <p:cNvSpPr/>
          <p:nvPr/>
        </p:nvSpPr>
        <p:spPr>
          <a:xfrm>
            <a:off x="1166813" y="5775573"/>
            <a:ext cx="4681538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钥匙扣（身份标签）</a:t>
            </a:r>
            <a:endParaRPr lang="en-US" sz="1350" dirty="0"/>
          </a:p>
        </p:txBody>
      </p:sp>
      <p:sp>
        <p:nvSpPr>
          <p:cNvPr id="33" name="SK-6-text-32"/>
          <p:cNvSpPr/>
          <p:nvPr/>
        </p:nvSpPr>
        <p:spPr>
          <a:xfrm>
            <a:off x="1166813" y="6044059"/>
            <a:ext cx="468153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ESP32-C3持续广播唯一身份ID（如</a:t>
            </a: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"KEYFOB_001"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）。单点成本约</a:t>
            </a: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20元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200" dirty="0"/>
          </a:p>
        </p:txBody>
      </p:sp>
      <p:sp>
        <p:nvSpPr>
          <p:cNvPr id="34" name="SK-6-text-33"/>
          <p:cNvSpPr/>
          <p:nvPr/>
        </p:nvSpPr>
        <p:spPr>
          <a:xfrm>
            <a:off x="6672263" y="4678412"/>
            <a:ext cx="4681538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数据记录与存储</a:t>
            </a:r>
            <a:endParaRPr lang="en-US" sz="1350" dirty="0"/>
          </a:p>
        </p:txBody>
      </p:sp>
      <p:sp>
        <p:nvSpPr>
          <p:cNvPr id="35" name="SK-6-text-34"/>
          <p:cNvSpPr/>
          <p:nvPr/>
        </p:nvSpPr>
        <p:spPr>
          <a:xfrm>
            <a:off x="6672263" y="4946898"/>
            <a:ext cx="468153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桩子扫描并</a:t>
            </a: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本地存储记录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（时间戳、钥匙扣ID、RSSI信号强度）。支持EEPROM断电存储。</a:t>
            </a:r>
            <a:endParaRPr lang="en-US" sz="1200" dirty="0"/>
          </a:p>
        </p:txBody>
      </p:sp>
      <p:sp>
        <p:nvSpPr>
          <p:cNvPr id="36" name="SK-6-text-35"/>
          <p:cNvSpPr/>
          <p:nvPr/>
        </p:nvSpPr>
        <p:spPr>
          <a:xfrm>
            <a:off x="6672263" y="5775573"/>
            <a:ext cx="4681538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数据收集与下载</a:t>
            </a:r>
            <a:endParaRPr lang="en-US" sz="1350" dirty="0"/>
          </a:p>
        </p:txBody>
      </p:sp>
      <p:sp>
        <p:nvSpPr>
          <p:cNvPr id="37" name="SK-6-text-36"/>
          <p:cNvSpPr/>
          <p:nvPr/>
        </p:nvSpPr>
        <p:spPr>
          <a:xfrm>
            <a:off x="6672263" y="6044059"/>
            <a:ext cx="468153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收集设备（如手机）靠近桩子，通过</a:t>
            </a: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蓝牙连接下载JSON格式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的进出记录数据。</a:t>
            </a:r>
            <a:endParaRPr lang="en-US" sz="1200" dirty="0"/>
          </a:p>
        </p:txBody>
      </p:sp>
      <p:sp>
        <p:nvSpPr>
          <p:cNvPr id="38" name="SK-6-text-37"/>
          <p:cNvSpPr/>
          <p:nvPr/>
        </p:nvSpPr>
        <p:spPr>
          <a:xfrm>
            <a:off x="11442650" y="6610350"/>
            <a:ext cx="74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天工 AI 生成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43725"/>
          </a:xfrm>
          <a:prstGeom prst="rect">
            <a:avLst/>
          </a:prstGeom>
        </p:spPr>
      </p:pic>
      <p:pic>
        <p:nvPicPr>
          <p:cNvPr id="3" name="SK-7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943725"/>
          </a:xfrm>
          <a:prstGeom prst="rect">
            <a:avLst/>
          </a:prstGeom>
        </p:spPr>
      </p:pic>
      <p:pic>
        <p:nvPicPr>
          <p:cNvPr id="4" name="SK-7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85725"/>
            <a:ext cx="11277600" cy="685651"/>
          </a:xfrm>
          <a:prstGeom prst="rect">
            <a:avLst/>
          </a:prstGeom>
        </p:spPr>
      </p:pic>
      <p:pic>
        <p:nvPicPr>
          <p:cNvPr id="5" name="SK-7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828526"/>
            <a:ext cx="5820668" cy="2534245"/>
          </a:xfrm>
          <a:prstGeom prst="rect">
            <a:avLst/>
          </a:prstGeom>
        </p:spPr>
      </p:pic>
      <p:pic>
        <p:nvPicPr>
          <p:cNvPr id="6" name="SK-7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1013668"/>
            <a:ext cx="178594" cy="148828"/>
          </a:xfrm>
          <a:prstGeom prst="rect">
            <a:avLst/>
          </a:prstGeom>
        </p:spPr>
      </p:pic>
      <p:pic>
        <p:nvPicPr>
          <p:cNvPr id="7" name="SK-7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1309539"/>
            <a:ext cx="5477768" cy="582811"/>
          </a:xfrm>
          <a:prstGeom prst="rect">
            <a:avLst/>
          </a:prstGeom>
        </p:spPr>
      </p:pic>
      <p:pic>
        <p:nvPicPr>
          <p:cNvPr id="8" name="SK-7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1404789"/>
            <a:ext cx="647700" cy="223838"/>
          </a:xfrm>
          <a:prstGeom prst="rect">
            <a:avLst/>
          </a:prstGeom>
        </p:spPr>
      </p:pic>
      <p:pic>
        <p:nvPicPr>
          <p:cNvPr id="9" name="SK-7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" y="1968550"/>
            <a:ext cx="5477768" cy="582811"/>
          </a:xfrm>
          <a:prstGeom prst="rect">
            <a:avLst/>
          </a:prstGeom>
        </p:spPr>
      </p:pic>
      <p:pic>
        <p:nvPicPr>
          <p:cNvPr id="10" name="SK-7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950" y="2063800"/>
            <a:ext cx="647700" cy="223838"/>
          </a:xfrm>
          <a:prstGeom prst="rect">
            <a:avLst/>
          </a:prstGeom>
        </p:spPr>
      </p:pic>
      <p:pic>
        <p:nvPicPr>
          <p:cNvPr id="11" name="SK-7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" y="2627561"/>
            <a:ext cx="5477768" cy="582811"/>
          </a:xfrm>
          <a:prstGeom prst="rect">
            <a:avLst/>
          </a:prstGeom>
        </p:spPr>
      </p:pic>
      <p:pic>
        <p:nvPicPr>
          <p:cNvPr id="12" name="SK-7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950" y="2722811"/>
            <a:ext cx="400050" cy="223838"/>
          </a:xfrm>
          <a:prstGeom prst="rect">
            <a:avLst/>
          </a:prstGeom>
        </p:spPr>
      </p:pic>
      <p:pic>
        <p:nvPicPr>
          <p:cNvPr id="13" name="SK-7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3496121"/>
            <a:ext cx="5820668" cy="1290638"/>
          </a:xfrm>
          <a:prstGeom prst="rect">
            <a:avLst/>
          </a:prstGeom>
        </p:spPr>
      </p:pic>
      <p:pic>
        <p:nvPicPr>
          <p:cNvPr id="14" name="SK-7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650" y="3662214"/>
            <a:ext cx="178594" cy="148828"/>
          </a:xfrm>
          <a:prstGeom prst="rect">
            <a:avLst/>
          </a:prstGeom>
        </p:spPr>
      </p:pic>
      <p:pic>
        <p:nvPicPr>
          <p:cNvPr id="15" name="SK-7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68368" y="828526"/>
            <a:ext cx="5266432" cy="3272433"/>
          </a:xfrm>
          <a:prstGeom prst="rect">
            <a:avLst/>
          </a:prstGeom>
        </p:spPr>
      </p:pic>
      <p:pic>
        <p:nvPicPr>
          <p:cNvPr id="16" name="SK-7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39818" y="904726"/>
            <a:ext cx="142875" cy="114300"/>
          </a:xfrm>
          <a:prstGeom prst="rect">
            <a:avLst/>
          </a:prstGeom>
        </p:spPr>
      </p:pic>
      <p:pic>
        <p:nvPicPr>
          <p:cNvPr id="17" name="SK-7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39818" y="1085701"/>
            <a:ext cx="4923532" cy="1035695"/>
          </a:xfrm>
          <a:prstGeom prst="rect">
            <a:avLst/>
          </a:prstGeom>
        </p:spPr>
      </p:pic>
      <p:pic>
        <p:nvPicPr>
          <p:cNvPr id="18" name="SK-7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39818" y="2178546"/>
            <a:ext cx="119063" cy="99120"/>
          </a:xfrm>
          <a:prstGeom prst="rect">
            <a:avLst/>
          </a:prstGeom>
        </p:spPr>
      </p:pic>
      <p:pic>
        <p:nvPicPr>
          <p:cNvPr id="19" name="SK-7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39818" y="2354759"/>
            <a:ext cx="119063" cy="99120"/>
          </a:xfrm>
          <a:prstGeom prst="rect">
            <a:avLst/>
          </a:prstGeom>
        </p:spPr>
      </p:pic>
      <p:pic>
        <p:nvPicPr>
          <p:cNvPr id="20" name="SK-7-img-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39818" y="2530971"/>
            <a:ext cx="119063" cy="99120"/>
          </a:xfrm>
          <a:prstGeom prst="rect">
            <a:avLst/>
          </a:prstGeom>
        </p:spPr>
      </p:pic>
      <p:pic>
        <p:nvPicPr>
          <p:cNvPr id="21" name="SK-7-img-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68368" y="4148584"/>
            <a:ext cx="5266432" cy="638175"/>
          </a:xfrm>
          <a:prstGeom prst="rect">
            <a:avLst/>
          </a:prstGeom>
        </p:spPr>
      </p:pic>
      <p:pic>
        <p:nvPicPr>
          <p:cNvPr id="22" name="SK-7-img-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39818" y="4224784"/>
            <a:ext cx="142875" cy="114300"/>
          </a:xfrm>
          <a:prstGeom prst="rect">
            <a:avLst/>
          </a:prstGeom>
        </p:spPr>
      </p:pic>
      <p:pic>
        <p:nvPicPr>
          <p:cNvPr id="23" name="SK-7-img-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39818" y="4396234"/>
            <a:ext cx="1157288" cy="180975"/>
          </a:xfrm>
          <a:prstGeom prst="rect">
            <a:avLst/>
          </a:prstGeom>
        </p:spPr>
      </p:pic>
      <p:pic>
        <p:nvPicPr>
          <p:cNvPr id="24" name="SK-7-img-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754118" y="4444454"/>
            <a:ext cx="119063" cy="99120"/>
          </a:xfrm>
          <a:prstGeom prst="rect">
            <a:avLst/>
          </a:prstGeom>
        </p:spPr>
      </p:pic>
      <p:pic>
        <p:nvPicPr>
          <p:cNvPr id="25" name="SK-7-img-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54255" y="4437162"/>
            <a:ext cx="119063" cy="99120"/>
          </a:xfrm>
          <a:prstGeom prst="rect">
            <a:avLst/>
          </a:prstGeom>
        </p:spPr>
      </p:pic>
      <p:pic>
        <p:nvPicPr>
          <p:cNvPr id="26" name="SK-7-img-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30468" y="4396234"/>
            <a:ext cx="985838" cy="180975"/>
          </a:xfrm>
          <a:prstGeom prst="rect">
            <a:avLst/>
          </a:prstGeom>
        </p:spPr>
      </p:pic>
      <p:pic>
        <p:nvPicPr>
          <p:cNvPr id="27" name="SK-7-img-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44768" y="4444454"/>
            <a:ext cx="119063" cy="99120"/>
          </a:xfrm>
          <a:prstGeom prst="rect">
            <a:avLst/>
          </a:prstGeom>
        </p:spPr>
      </p:pic>
      <p:pic>
        <p:nvPicPr>
          <p:cNvPr id="28" name="SK-7-img-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73455" y="4437162"/>
            <a:ext cx="119063" cy="99120"/>
          </a:xfrm>
          <a:prstGeom prst="rect">
            <a:avLst/>
          </a:prstGeom>
        </p:spPr>
      </p:pic>
      <p:pic>
        <p:nvPicPr>
          <p:cNvPr id="29" name="SK-7-img-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249668" y="4396234"/>
            <a:ext cx="1071563" cy="180975"/>
          </a:xfrm>
          <a:prstGeom prst="rect">
            <a:avLst/>
          </a:prstGeom>
        </p:spPr>
      </p:pic>
      <p:pic>
        <p:nvPicPr>
          <p:cNvPr id="30" name="SK-7-img-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363968" y="4444454"/>
            <a:ext cx="119063" cy="99120"/>
          </a:xfrm>
          <a:prstGeom prst="rect">
            <a:avLst/>
          </a:prstGeom>
        </p:spPr>
      </p:pic>
      <p:pic>
        <p:nvPicPr>
          <p:cNvPr id="31" name="SK-7-img-30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57200" y="4843909"/>
            <a:ext cx="11277600" cy="419100"/>
          </a:xfrm>
          <a:prstGeom prst="rect">
            <a:avLst/>
          </a:prstGeom>
        </p:spPr>
      </p:pic>
      <p:pic>
        <p:nvPicPr>
          <p:cNvPr id="32" name="SK-7-img-31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5800" y="4971604"/>
            <a:ext cx="202406" cy="163711"/>
          </a:xfrm>
          <a:prstGeom prst="rect">
            <a:avLst/>
          </a:prstGeom>
        </p:spPr>
      </p:pic>
      <p:pic>
        <p:nvPicPr>
          <p:cNvPr id="33" name="SK-7-img-32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250406" y="4882009"/>
            <a:ext cx="9525" cy="342900"/>
          </a:xfrm>
          <a:prstGeom prst="rect">
            <a:avLst/>
          </a:prstGeom>
        </p:spPr>
      </p:pic>
      <p:pic>
        <p:nvPicPr>
          <p:cNvPr id="34" name="SK-7-img-33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526631" y="4971604"/>
            <a:ext cx="202406" cy="163711"/>
          </a:xfrm>
          <a:prstGeom prst="rect">
            <a:avLst/>
          </a:prstGeom>
        </p:spPr>
      </p:pic>
      <p:pic>
        <p:nvPicPr>
          <p:cNvPr id="35" name="SK-7-img-34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091238" y="4882009"/>
            <a:ext cx="9525" cy="342900"/>
          </a:xfrm>
          <a:prstGeom prst="rect">
            <a:avLst/>
          </a:prstGeom>
        </p:spPr>
      </p:pic>
      <p:pic>
        <p:nvPicPr>
          <p:cNvPr id="36" name="SK-7-img-35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367463" y="4971604"/>
            <a:ext cx="202406" cy="163711"/>
          </a:xfrm>
          <a:prstGeom prst="rect">
            <a:avLst/>
          </a:prstGeom>
        </p:spPr>
      </p:pic>
      <p:pic>
        <p:nvPicPr>
          <p:cNvPr id="37" name="SK-7-img-36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932069" y="4882009"/>
            <a:ext cx="9525" cy="342900"/>
          </a:xfrm>
          <a:prstGeom prst="rect">
            <a:avLst/>
          </a:prstGeom>
        </p:spPr>
      </p:pic>
      <p:pic>
        <p:nvPicPr>
          <p:cNvPr id="38" name="SK-7-img-37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208294" y="4971604"/>
            <a:ext cx="202406" cy="163711"/>
          </a:xfrm>
          <a:prstGeom prst="rect">
            <a:avLst/>
          </a:prstGeom>
        </p:spPr>
      </p:pic>
      <p:pic>
        <p:nvPicPr>
          <p:cNvPr id="39" name="SK-7-img-38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385500" y="6696075"/>
            <a:ext cx="749350" cy="190500"/>
          </a:xfrm>
          <a:prstGeom prst="rect">
            <a:avLst/>
          </a:prstGeom>
        </p:spPr>
      </p:pic>
      <p:sp>
        <p:nvSpPr>
          <p:cNvPr id="40" name="SK-7-text-39"/>
          <p:cNvSpPr/>
          <p:nvPr/>
        </p:nvSpPr>
        <p:spPr>
          <a:xfrm>
            <a:off x="647700" y="85725"/>
            <a:ext cx="11087100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电子围栏：信号识别与本地存储机制</a:t>
            </a:r>
            <a:endParaRPr lang="en-US" sz="2550" dirty="0"/>
          </a:p>
        </p:txBody>
      </p:sp>
      <p:sp>
        <p:nvSpPr>
          <p:cNvPr id="41" name="SK-7-text-40"/>
          <p:cNvSpPr/>
          <p:nvPr/>
        </p:nvSpPr>
        <p:spPr>
          <a:xfrm>
            <a:off x="647700" y="531465"/>
            <a:ext cx="11087100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基于信号强度划分距离，钥匙扣持续广播，桩子本地记录并支持下载</a:t>
            </a:r>
            <a:endParaRPr lang="en-US" sz="1350" dirty="0"/>
          </a:p>
        </p:txBody>
      </p:sp>
      <p:sp>
        <p:nvSpPr>
          <p:cNvPr id="42" name="SK-7-text-41"/>
          <p:cNvSpPr/>
          <p:nvPr/>
        </p:nvSpPr>
        <p:spPr>
          <a:xfrm>
            <a:off x="883444" y="980926"/>
            <a:ext cx="5477768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RSSI 信号强度三级距离划分</a:t>
            </a:r>
            <a:endParaRPr lang="en-US" sz="1125" dirty="0"/>
          </a:p>
        </p:txBody>
      </p:sp>
      <p:sp>
        <p:nvSpPr>
          <p:cNvPr id="43" name="SK-7-text-42"/>
          <p:cNvSpPr/>
          <p:nvPr/>
        </p:nvSpPr>
        <p:spPr>
          <a:xfrm>
            <a:off x="819150" y="1404789"/>
            <a:ext cx="757518" cy="2238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进入记录</a:t>
            </a:r>
            <a:endParaRPr lang="en-US" sz="975" dirty="0"/>
          </a:p>
        </p:txBody>
      </p:sp>
      <p:sp>
        <p:nvSpPr>
          <p:cNvPr id="44" name="SK-7-text-43"/>
          <p:cNvSpPr/>
          <p:nvPr/>
        </p:nvSpPr>
        <p:spPr>
          <a:xfrm>
            <a:off x="1485900" y="1404789"/>
            <a:ext cx="44805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RSSI &gt; −50 dBm（距离 &lt; 1 米）</a:t>
            </a:r>
            <a:endParaRPr lang="en-US" sz="1050" dirty="0"/>
          </a:p>
        </p:txBody>
      </p:sp>
      <p:sp>
        <p:nvSpPr>
          <p:cNvPr id="45" name="SK-7-text-44"/>
          <p:cNvSpPr/>
          <p:nvPr/>
        </p:nvSpPr>
        <p:spPr>
          <a:xfrm>
            <a:off x="1485900" y="1623864"/>
            <a:ext cx="648843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触发记录写入 EEPROM，时间戳 + 钥匙扣 ID + RSSI 值</a:t>
            </a:r>
            <a:endParaRPr lang="en-US" sz="975" dirty="0"/>
          </a:p>
        </p:txBody>
      </p:sp>
      <p:sp>
        <p:nvSpPr>
          <p:cNvPr id="46" name="SK-7-text-45"/>
          <p:cNvSpPr/>
          <p:nvPr/>
        </p:nvSpPr>
        <p:spPr>
          <a:xfrm>
            <a:off x="819150" y="2063800"/>
            <a:ext cx="757518" cy="2238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预警区间</a:t>
            </a:r>
            <a:endParaRPr lang="en-US" sz="975" dirty="0"/>
          </a:p>
        </p:txBody>
      </p:sp>
      <p:sp>
        <p:nvSpPr>
          <p:cNvPr id="47" name="SK-7-text-46"/>
          <p:cNvSpPr/>
          <p:nvPr/>
        </p:nvSpPr>
        <p:spPr>
          <a:xfrm>
            <a:off x="1485900" y="2063800"/>
            <a:ext cx="47472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RSSI −50 ~ −70 dBm（1–5 米）</a:t>
            </a:r>
            <a:endParaRPr lang="en-US" sz="1050" dirty="0"/>
          </a:p>
        </p:txBody>
      </p:sp>
      <p:sp>
        <p:nvSpPr>
          <p:cNvPr id="48" name="SK-7-text-47"/>
          <p:cNvSpPr/>
          <p:nvPr/>
        </p:nvSpPr>
        <p:spPr>
          <a:xfrm>
            <a:off x="1485900" y="2282875"/>
            <a:ext cx="549783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持续监测信号变化，不触发写入，准备进入记录状态</a:t>
            </a:r>
            <a:endParaRPr lang="en-US" sz="975" dirty="0"/>
          </a:p>
        </p:txBody>
      </p:sp>
      <p:sp>
        <p:nvSpPr>
          <p:cNvPr id="49" name="SK-7-text-48"/>
          <p:cNvSpPr/>
          <p:nvPr/>
        </p:nvSpPr>
        <p:spPr>
          <a:xfrm>
            <a:off x="819150" y="2722811"/>
            <a:ext cx="306614" cy="2238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忽略</a:t>
            </a:r>
            <a:endParaRPr lang="en-US" sz="975" dirty="0"/>
          </a:p>
        </p:txBody>
      </p:sp>
      <p:sp>
        <p:nvSpPr>
          <p:cNvPr id="50" name="SK-7-text-49"/>
          <p:cNvSpPr/>
          <p:nvPr/>
        </p:nvSpPr>
        <p:spPr>
          <a:xfrm>
            <a:off x="1238250" y="2722811"/>
            <a:ext cx="44805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RSSI &lt; −70 dBm（距离 &gt; 5 米）</a:t>
            </a:r>
            <a:endParaRPr lang="en-US" sz="1050" dirty="0"/>
          </a:p>
        </p:txBody>
      </p:sp>
      <p:sp>
        <p:nvSpPr>
          <p:cNvPr id="51" name="SK-7-text-50"/>
          <p:cNvSpPr/>
          <p:nvPr/>
        </p:nvSpPr>
        <p:spPr>
          <a:xfrm>
            <a:off x="1238250" y="2941886"/>
            <a:ext cx="425958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信号过弱，跳过处理，降低误识别与功耗</a:t>
            </a:r>
            <a:endParaRPr lang="en-US" sz="975" dirty="0"/>
          </a:p>
        </p:txBody>
      </p:sp>
      <p:sp>
        <p:nvSpPr>
          <p:cNvPr id="52" name="SK-7-text-51"/>
          <p:cNvSpPr/>
          <p:nvPr/>
        </p:nvSpPr>
        <p:spPr>
          <a:xfrm>
            <a:off x="883444" y="3629471"/>
            <a:ext cx="5477768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钥匙扣广播机制</a:t>
            </a:r>
            <a:endParaRPr lang="en-US" sz="1125" dirty="0"/>
          </a:p>
        </p:txBody>
      </p:sp>
      <p:sp>
        <p:nvSpPr>
          <p:cNvPr id="53" name="SK-7-text-52"/>
          <p:cNvSpPr/>
          <p:nvPr/>
        </p:nvSpPr>
        <p:spPr>
          <a:xfrm>
            <a:off x="781050" y="3939034"/>
            <a:ext cx="5807872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持续广播身份标识 </a:t>
            </a:r>
            <a:r>
              <a:rPr lang="en-US" sz="1050" b="1" dirty="0">
                <a:solidFill>
                  <a:srgbClr val="0369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KEYFOB_001</a:t>
            </a:r>
            <a:r>
              <a:rPr lang="en-US" sz="10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，无需主动配对</a:t>
            </a:r>
            <a:endParaRPr lang="en-US" sz="1050" dirty="0"/>
          </a:p>
        </p:txBody>
      </p:sp>
      <p:sp>
        <p:nvSpPr>
          <p:cNvPr id="54" name="SK-7-text-53"/>
          <p:cNvSpPr/>
          <p:nvPr/>
        </p:nvSpPr>
        <p:spPr>
          <a:xfrm>
            <a:off x="781050" y="4196209"/>
            <a:ext cx="5393024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多桩子同时扫描，支持 </a:t>
            </a:r>
            <a:r>
              <a:rPr lang="en-US" sz="1050" b="1" dirty="0">
                <a:solidFill>
                  <a:srgbClr val="0369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多对多架构</a:t>
            </a:r>
            <a:r>
              <a:rPr lang="en-US" sz="10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，可任意扩展</a:t>
            </a:r>
            <a:endParaRPr lang="en-US" sz="1050" dirty="0"/>
          </a:p>
        </p:txBody>
      </p:sp>
      <p:sp>
        <p:nvSpPr>
          <p:cNvPr id="55" name="SK-7-text-54"/>
          <p:cNvSpPr/>
          <p:nvPr/>
        </p:nvSpPr>
        <p:spPr>
          <a:xfrm>
            <a:off x="781050" y="4453384"/>
            <a:ext cx="6948704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平均电流 </a:t>
            </a:r>
            <a:r>
              <a:rPr lang="en-US" sz="1050" b="1" dirty="0">
                <a:solidFill>
                  <a:srgbClr val="0369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0.5–1 mA</a:t>
            </a:r>
            <a:r>
              <a:rPr lang="en-US" sz="10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，CR2032 供电续航 1–2 个月</a:t>
            </a:r>
            <a:endParaRPr lang="en-US" sz="1050" dirty="0"/>
          </a:p>
        </p:txBody>
      </p:sp>
      <p:sp>
        <p:nvSpPr>
          <p:cNvPr id="56" name="SK-7-text-55"/>
          <p:cNvSpPr/>
          <p:nvPr/>
        </p:nvSpPr>
        <p:spPr>
          <a:xfrm>
            <a:off x="6858893" y="876151"/>
            <a:ext cx="4923532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本地存储格式（EEPROM JSON）</a:t>
            </a:r>
            <a:endParaRPr lang="en-US" sz="900" dirty="0"/>
          </a:p>
        </p:txBody>
      </p:sp>
      <p:sp>
        <p:nvSpPr>
          <p:cNvPr id="57" name="SK-7-text-56"/>
          <p:cNvSpPr/>
          <p:nvPr/>
        </p:nvSpPr>
        <p:spPr>
          <a:xfrm>
            <a:off x="6773168" y="1133326"/>
            <a:ext cx="102870" cy="104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{</a:t>
            </a:r>
            <a:endParaRPr lang="en-US" sz="675" dirty="0"/>
          </a:p>
        </p:txBody>
      </p:sp>
      <p:sp>
        <p:nvSpPr>
          <p:cNvPr id="58" name="SK-7-text-57"/>
          <p:cNvSpPr/>
          <p:nvPr/>
        </p:nvSpPr>
        <p:spPr>
          <a:xfrm>
            <a:off x="6773168" y="1260872"/>
            <a:ext cx="4656832" cy="1370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  </a:t>
            </a:r>
            <a:r>
              <a:rPr lang="en-US" sz="675" dirty="0">
                <a:solidFill>
                  <a:srgbClr val="7DD3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"fence"</a:t>
            </a:r>
            <a:r>
              <a:rPr lang="en-US" sz="6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 </a:t>
            </a:r>
            <a:r>
              <a:rPr lang="en-US" sz="675" dirty="0">
                <a:solidFill>
                  <a:srgbClr val="86EF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"FENCE_001"</a:t>
            </a:r>
            <a:r>
              <a:rPr lang="en-US" sz="6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</a:t>
            </a:r>
            <a:endParaRPr lang="en-US" sz="675" dirty="0"/>
          </a:p>
        </p:txBody>
      </p:sp>
      <p:sp>
        <p:nvSpPr>
          <p:cNvPr id="59" name="SK-7-text-58"/>
          <p:cNvSpPr/>
          <p:nvPr/>
        </p:nvSpPr>
        <p:spPr>
          <a:xfrm>
            <a:off x="6773168" y="1397943"/>
            <a:ext cx="4656832" cy="1370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  </a:t>
            </a:r>
            <a:r>
              <a:rPr lang="en-US" sz="675" dirty="0">
                <a:solidFill>
                  <a:srgbClr val="7DD3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"count"</a:t>
            </a:r>
            <a:r>
              <a:rPr lang="en-US" sz="6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 </a:t>
            </a:r>
            <a:r>
              <a:rPr lang="en-US" sz="675" dirty="0">
                <a:solidFill>
                  <a:srgbClr val="FDE6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sz="6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</a:t>
            </a:r>
            <a:endParaRPr lang="en-US" sz="675" dirty="0"/>
          </a:p>
        </p:txBody>
      </p:sp>
      <p:sp>
        <p:nvSpPr>
          <p:cNvPr id="60" name="SK-7-text-59"/>
          <p:cNvSpPr/>
          <p:nvPr/>
        </p:nvSpPr>
        <p:spPr>
          <a:xfrm>
            <a:off x="6773168" y="1535013"/>
            <a:ext cx="4656832" cy="1370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  </a:t>
            </a:r>
            <a:r>
              <a:rPr lang="en-US" sz="675" dirty="0">
                <a:solidFill>
                  <a:srgbClr val="7DD3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"records"</a:t>
            </a:r>
            <a:r>
              <a:rPr lang="en-US" sz="6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 </a:t>
            </a:r>
            <a:r>
              <a:rPr lang="en-US" sz="67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</a:t>
            </a:r>
            <a:endParaRPr lang="en-US" sz="675" dirty="0"/>
          </a:p>
        </p:txBody>
      </p:sp>
      <p:sp>
        <p:nvSpPr>
          <p:cNvPr id="61" name="SK-7-text-60"/>
          <p:cNvSpPr/>
          <p:nvPr/>
        </p:nvSpPr>
        <p:spPr>
          <a:xfrm>
            <a:off x="6773168" y="1672084"/>
            <a:ext cx="5304532" cy="1370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    </a:t>
            </a:r>
            <a:r>
              <a:rPr lang="en-US" sz="67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{</a:t>
            </a:r>
            <a:r>
              <a:rPr lang="en-US" sz="6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675" dirty="0">
                <a:solidFill>
                  <a:srgbClr val="7DD3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"t"</a:t>
            </a:r>
            <a:r>
              <a:rPr lang="en-US" sz="6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 </a:t>
            </a:r>
            <a:r>
              <a:rPr lang="en-US" sz="675" dirty="0">
                <a:solidFill>
                  <a:srgbClr val="FDE6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12345</a:t>
            </a:r>
            <a:r>
              <a:rPr lang="en-US" sz="6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</a:t>
            </a:r>
            <a:r>
              <a:rPr lang="en-US" sz="675" dirty="0">
                <a:solidFill>
                  <a:srgbClr val="7DD3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"id"</a:t>
            </a:r>
            <a:r>
              <a:rPr lang="en-US" sz="6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 </a:t>
            </a:r>
            <a:r>
              <a:rPr lang="en-US" sz="675" dirty="0">
                <a:solidFill>
                  <a:srgbClr val="86EF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"KEYFOB_001"</a:t>
            </a:r>
            <a:r>
              <a:rPr lang="en-US" sz="6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</a:t>
            </a:r>
            <a:r>
              <a:rPr lang="en-US" sz="675" dirty="0">
                <a:solidFill>
                  <a:srgbClr val="7DD3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"rssi"</a:t>
            </a:r>
            <a:r>
              <a:rPr lang="en-US" sz="6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 </a:t>
            </a:r>
            <a:r>
              <a:rPr lang="en-US" sz="675" dirty="0">
                <a:solidFill>
                  <a:srgbClr val="FDE6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-39</a:t>
            </a:r>
            <a:r>
              <a:rPr lang="en-US" sz="6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67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}</a:t>
            </a:r>
            <a:endParaRPr lang="en-US" sz="675" dirty="0"/>
          </a:p>
        </p:txBody>
      </p:sp>
      <p:sp>
        <p:nvSpPr>
          <p:cNvPr id="62" name="SK-7-text-61"/>
          <p:cNvSpPr/>
          <p:nvPr/>
        </p:nvSpPr>
        <p:spPr>
          <a:xfrm>
            <a:off x="6830318" y="1818680"/>
            <a:ext cx="102870" cy="104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]</a:t>
            </a:r>
            <a:endParaRPr lang="en-US" sz="675" dirty="0"/>
          </a:p>
        </p:txBody>
      </p:sp>
      <p:sp>
        <p:nvSpPr>
          <p:cNvPr id="63" name="SK-7-text-62"/>
          <p:cNvSpPr/>
          <p:nvPr/>
        </p:nvSpPr>
        <p:spPr>
          <a:xfrm>
            <a:off x="6773168" y="1955750"/>
            <a:ext cx="102870" cy="104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}</a:t>
            </a:r>
            <a:endParaRPr lang="en-US" sz="675" dirty="0"/>
          </a:p>
        </p:txBody>
      </p:sp>
      <p:sp>
        <p:nvSpPr>
          <p:cNvPr id="64" name="SK-7-text-63"/>
          <p:cNvSpPr/>
          <p:nvPr/>
        </p:nvSpPr>
        <p:spPr>
          <a:xfrm>
            <a:off x="6835080" y="2159496"/>
            <a:ext cx="393954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断电不丢失，EEPROM 持久化存储历史记录</a:t>
            </a:r>
            <a:endParaRPr lang="en-US" sz="825" dirty="0"/>
          </a:p>
        </p:txBody>
      </p:sp>
      <p:sp>
        <p:nvSpPr>
          <p:cNvPr id="65" name="SK-7-text-64"/>
          <p:cNvSpPr/>
          <p:nvPr/>
        </p:nvSpPr>
        <p:spPr>
          <a:xfrm>
            <a:off x="6835080" y="2335709"/>
            <a:ext cx="515493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每条记录含时间戳、钥匙扣 ID、信号强度 RSSI 三字段</a:t>
            </a:r>
            <a:endParaRPr lang="en-US" sz="825" dirty="0"/>
          </a:p>
        </p:txBody>
      </p:sp>
      <p:sp>
        <p:nvSpPr>
          <p:cNvPr id="66" name="SK-7-text-65"/>
          <p:cNvSpPr/>
          <p:nvPr/>
        </p:nvSpPr>
        <p:spPr>
          <a:xfrm>
            <a:off x="6835080" y="2511921"/>
            <a:ext cx="444246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标准 JSON 格式，可直接上传云平台或导出分析</a:t>
            </a:r>
            <a:endParaRPr lang="en-US" sz="825" dirty="0"/>
          </a:p>
        </p:txBody>
      </p:sp>
      <p:sp>
        <p:nvSpPr>
          <p:cNvPr id="67" name="SK-7-text-66"/>
          <p:cNvSpPr/>
          <p:nvPr/>
        </p:nvSpPr>
        <p:spPr>
          <a:xfrm>
            <a:off x="6858893" y="4196209"/>
            <a:ext cx="4923532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蓝牙近场数据下载流程</a:t>
            </a:r>
            <a:endParaRPr lang="en-US" sz="900" dirty="0"/>
          </a:p>
        </p:txBody>
      </p:sp>
      <p:sp>
        <p:nvSpPr>
          <p:cNvPr id="68" name="SK-7-text-67"/>
          <p:cNvSpPr/>
          <p:nvPr/>
        </p:nvSpPr>
        <p:spPr>
          <a:xfrm>
            <a:off x="6920805" y="4396234"/>
            <a:ext cx="647700" cy="18097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收集设备靠近桩子</a:t>
            </a:r>
            <a:endParaRPr lang="en-US" sz="750" dirty="0"/>
          </a:p>
        </p:txBody>
      </p:sp>
      <p:sp>
        <p:nvSpPr>
          <p:cNvPr id="69" name="SK-7-text-68"/>
          <p:cNvSpPr/>
          <p:nvPr/>
        </p:nvSpPr>
        <p:spPr>
          <a:xfrm>
            <a:off x="8311455" y="4396234"/>
            <a:ext cx="476250" cy="18097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BLE 连接建立</a:t>
            </a:r>
            <a:endParaRPr lang="en-US" sz="750" dirty="0"/>
          </a:p>
        </p:txBody>
      </p:sp>
      <p:sp>
        <p:nvSpPr>
          <p:cNvPr id="70" name="SK-7-text-69"/>
          <p:cNvSpPr/>
          <p:nvPr/>
        </p:nvSpPr>
        <p:spPr>
          <a:xfrm>
            <a:off x="9530655" y="4396234"/>
            <a:ext cx="561975" cy="18097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JSON 数据传输</a:t>
            </a:r>
            <a:endParaRPr lang="en-US" sz="750" dirty="0"/>
          </a:p>
        </p:txBody>
      </p:sp>
      <p:sp>
        <p:nvSpPr>
          <p:cNvPr id="71" name="SK-7-text-70"/>
          <p:cNvSpPr/>
          <p:nvPr/>
        </p:nvSpPr>
        <p:spPr>
          <a:xfrm>
            <a:off x="6639818" y="4596259"/>
            <a:ext cx="5552182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无需布线，</a:t>
            </a:r>
            <a:r>
              <a:rPr lang="en-US" sz="750" b="1" dirty="0">
                <a:solidFill>
                  <a:srgbClr val="F59E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无网络依赖</a:t>
            </a:r>
            <a:r>
              <a:rPr lang="en-US" sz="7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，定期巡检即可完成数据采集；支持未来扩展 4G 模块实现远程自动上传。</a:t>
            </a:r>
            <a:endParaRPr lang="en-US" sz="750" dirty="0"/>
          </a:p>
        </p:txBody>
      </p:sp>
      <p:sp>
        <p:nvSpPr>
          <p:cNvPr id="72" name="SK-7-text-71"/>
          <p:cNvSpPr/>
          <p:nvPr/>
        </p:nvSpPr>
        <p:spPr>
          <a:xfrm>
            <a:off x="983456" y="4907310"/>
            <a:ext cx="14287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多对多架构</a:t>
            </a:r>
            <a:endParaRPr lang="en-US" sz="1125" dirty="0"/>
          </a:p>
        </p:txBody>
      </p:sp>
      <p:sp>
        <p:nvSpPr>
          <p:cNvPr id="73" name="SK-7-text-72"/>
          <p:cNvSpPr/>
          <p:nvPr/>
        </p:nvSpPr>
        <p:spPr>
          <a:xfrm>
            <a:off x="983456" y="5088285"/>
            <a:ext cx="1988820" cy="1113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877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多桩子同时扫描，无限扩展</a:t>
            </a:r>
            <a:endParaRPr lang="en-US" sz="675" dirty="0"/>
          </a:p>
        </p:txBody>
      </p:sp>
      <p:sp>
        <p:nvSpPr>
          <p:cNvPr id="74" name="SK-7-text-73"/>
          <p:cNvSpPr/>
          <p:nvPr/>
        </p:nvSpPr>
        <p:spPr>
          <a:xfrm>
            <a:off x="3824288" y="4907310"/>
            <a:ext cx="17145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0.5–1 mA</a:t>
            </a:r>
            <a:endParaRPr lang="en-US" sz="1125" dirty="0"/>
          </a:p>
        </p:txBody>
      </p:sp>
      <p:sp>
        <p:nvSpPr>
          <p:cNvPr id="75" name="SK-7-text-74"/>
          <p:cNvSpPr/>
          <p:nvPr/>
        </p:nvSpPr>
        <p:spPr>
          <a:xfrm>
            <a:off x="3824288" y="5088285"/>
            <a:ext cx="1200150" cy="1113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877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钥匙扣平均电流</a:t>
            </a:r>
            <a:endParaRPr lang="en-US" sz="675" dirty="0"/>
          </a:p>
        </p:txBody>
      </p:sp>
      <p:sp>
        <p:nvSpPr>
          <p:cNvPr id="76" name="SK-7-text-75"/>
          <p:cNvSpPr/>
          <p:nvPr/>
        </p:nvSpPr>
        <p:spPr>
          <a:xfrm>
            <a:off x="6665119" y="4907310"/>
            <a:ext cx="23431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EEPROM 断电存储</a:t>
            </a:r>
            <a:endParaRPr lang="en-US" sz="1125" dirty="0"/>
          </a:p>
        </p:txBody>
      </p:sp>
      <p:sp>
        <p:nvSpPr>
          <p:cNvPr id="77" name="SK-7-text-76"/>
          <p:cNvSpPr/>
          <p:nvPr/>
        </p:nvSpPr>
        <p:spPr>
          <a:xfrm>
            <a:off x="6665119" y="5088285"/>
            <a:ext cx="1371600" cy="1113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877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历史记录永不丢失</a:t>
            </a:r>
            <a:endParaRPr lang="en-US" sz="675" dirty="0"/>
          </a:p>
        </p:txBody>
      </p:sp>
      <p:sp>
        <p:nvSpPr>
          <p:cNvPr id="78" name="SK-7-text-77"/>
          <p:cNvSpPr/>
          <p:nvPr/>
        </p:nvSpPr>
        <p:spPr>
          <a:xfrm>
            <a:off x="9505950" y="4907310"/>
            <a:ext cx="16573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 1 米精度</a:t>
            </a:r>
            <a:endParaRPr lang="en-US" sz="1125" dirty="0"/>
          </a:p>
        </p:txBody>
      </p:sp>
      <p:sp>
        <p:nvSpPr>
          <p:cNvPr id="79" name="SK-7-text-78"/>
          <p:cNvSpPr/>
          <p:nvPr/>
        </p:nvSpPr>
        <p:spPr>
          <a:xfrm>
            <a:off x="9505950" y="5088285"/>
            <a:ext cx="1543050" cy="1113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877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RSSI 进入记录阈值</a:t>
            </a:r>
            <a:endParaRPr lang="en-US" sz="675" dirty="0"/>
          </a:p>
        </p:txBody>
      </p:sp>
      <p:sp>
        <p:nvSpPr>
          <p:cNvPr id="80" name="SK-7-text-79"/>
          <p:cNvSpPr/>
          <p:nvPr/>
        </p:nvSpPr>
        <p:spPr>
          <a:xfrm>
            <a:off x="11442650" y="6696075"/>
            <a:ext cx="74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天工 AI 生成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8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6700"/>
            <a:ext cx="11277600" cy="685651"/>
          </a:xfrm>
          <a:prstGeom prst="rect">
            <a:avLst/>
          </a:prstGeom>
        </p:spPr>
      </p:pic>
      <p:pic>
        <p:nvPicPr>
          <p:cNvPr id="5" name="SK-8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80951"/>
            <a:ext cx="5486400" cy="5410349"/>
          </a:xfrm>
          <a:prstGeom prst="rect">
            <a:avLst/>
          </a:prstGeom>
        </p:spPr>
      </p:pic>
      <p:pic>
        <p:nvPicPr>
          <p:cNvPr id="6" name="SK-8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443782"/>
            <a:ext cx="285750" cy="228600"/>
          </a:xfrm>
          <a:prstGeom prst="rect">
            <a:avLst/>
          </a:prstGeom>
        </p:spPr>
      </p:pic>
      <p:pic>
        <p:nvPicPr>
          <p:cNvPr id="7" name="SK-8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935212"/>
            <a:ext cx="166688" cy="137220"/>
          </a:xfrm>
          <a:prstGeom prst="rect">
            <a:avLst/>
          </a:prstGeom>
        </p:spPr>
      </p:pic>
      <p:pic>
        <p:nvPicPr>
          <p:cNvPr id="8" name="SK-8-img-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636193"/>
            <a:ext cx="166688" cy="137220"/>
          </a:xfrm>
          <a:prstGeom prst="rect">
            <a:avLst/>
          </a:prstGeom>
        </p:spPr>
      </p:pic>
      <p:pic>
        <p:nvPicPr>
          <p:cNvPr id="9" name="SK-8-img-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337173"/>
            <a:ext cx="166688" cy="137220"/>
          </a:xfrm>
          <a:prstGeom prst="rect">
            <a:avLst/>
          </a:prstGeom>
        </p:spPr>
      </p:pic>
      <p:pic>
        <p:nvPicPr>
          <p:cNvPr id="10" name="SK-8-img-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1180951"/>
            <a:ext cx="5486400" cy="5410349"/>
          </a:xfrm>
          <a:prstGeom prst="rect">
            <a:avLst/>
          </a:prstGeom>
        </p:spPr>
      </p:pic>
      <p:pic>
        <p:nvPicPr>
          <p:cNvPr id="11" name="SK-8-img-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1443782"/>
            <a:ext cx="285750" cy="228600"/>
          </a:xfrm>
          <a:prstGeom prst="rect">
            <a:avLst/>
          </a:prstGeom>
        </p:spPr>
      </p:pic>
      <p:pic>
        <p:nvPicPr>
          <p:cNvPr id="12" name="SK-8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1897112"/>
            <a:ext cx="2438400" cy="2156520"/>
          </a:xfrm>
          <a:prstGeom prst="rect">
            <a:avLst/>
          </a:prstGeom>
        </p:spPr>
      </p:pic>
      <p:pic>
        <p:nvPicPr>
          <p:cNvPr id="13" name="SK-8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67800" y="1897112"/>
            <a:ext cx="2438400" cy="2156520"/>
          </a:xfrm>
          <a:prstGeom prst="rect">
            <a:avLst/>
          </a:prstGeom>
        </p:spPr>
      </p:pic>
      <p:pic>
        <p:nvPicPr>
          <p:cNvPr id="14" name="SK-8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4206032"/>
            <a:ext cx="2438400" cy="2156668"/>
          </a:xfrm>
          <a:prstGeom prst="rect">
            <a:avLst/>
          </a:prstGeom>
        </p:spPr>
      </p:pic>
      <p:pic>
        <p:nvPicPr>
          <p:cNvPr id="15" name="SK-8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67800" y="4206032"/>
            <a:ext cx="2438400" cy="2156668"/>
          </a:xfrm>
          <a:prstGeom prst="rect">
            <a:avLst/>
          </a:prstGeom>
        </p:spPr>
      </p:pic>
      <p:pic>
        <p:nvPicPr>
          <p:cNvPr id="16" name="SK-8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17" name="SK-8-text-16"/>
          <p:cNvSpPr/>
          <p:nvPr/>
        </p:nvSpPr>
        <p:spPr>
          <a:xfrm>
            <a:off x="647700" y="266700"/>
            <a:ext cx="11087100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电子围栏：功耗测试与应用场景拓展</a:t>
            </a:r>
            <a:endParaRPr lang="en-US" sz="2550" dirty="0"/>
          </a:p>
        </p:txBody>
      </p:sp>
      <p:sp>
        <p:nvSpPr>
          <p:cNvPr id="18" name="SK-8-text-17"/>
          <p:cNvSpPr/>
          <p:nvPr/>
        </p:nvSpPr>
        <p:spPr>
          <a:xfrm>
            <a:off x="647700" y="712440"/>
            <a:ext cx="11087100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验证超低功耗与长续航能力，列举停车场、仓库等多场景迁移应用</a:t>
            </a:r>
            <a:endParaRPr lang="en-US" sz="1350" dirty="0"/>
          </a:p>
        </p:txBody>
      </p:sp>
      <p:sp>
        <p:nvSpPr>
          <p:cNvPr id="19" name="SK-8-text-18"/>
          <p:cNvSpPr/>
          <p:nvPr/>
        </p:nvSpPr>
        <p:spPr>
          <a:xfrm>
            <a:off x="1085850" y="1409551"/>
            <a:ext cx="4572000" cy="2970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超低功耗与长续航验证</a:t>
            </a:r>
            <a:endParaRPr lang="en-US" sz="1800" dirty="0"/>
          </a:p>
        </p:txBody>
      </p:sp>
      <p:sp>
        <p:nvSpPr>
          <p:cNvPr id="20" name="SK-8-text-19"/>
          <p:cNvSpPr/>
          <p:nvPr/>
        </p:nvSpPr>
        <p:spPr>
          <a:xfrm>
            <a:off x="966788" y="1897112"/>
            <a:ext cx="4748213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桩子（太阳能供电）</a:t>
            </a:r>
            <a:r>
              <a:rPr lang="en-US" sz="13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：平均电流 </a:t>
            </a: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10-15mA</a:t>
            </a:r>
            <a:r>
              <a:rPr lang="en-US" sz="13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，太阳能+18650电池实现 </a:t>
            </a: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永久续航</a:t>
            </a:r>
            <a:endParaRPr lang="en-US" sz="1350" dirty="0"/>
          </a:p>
        </p:txBody>
      </p:sp>
      <p:sp>
        <p:nvSpPr>
          <p:cNvPr id="21" name="SK-8-text-20"/>
          <p:cNvSpPr/>
          <p:nvPr/>
        </p:nvSpPr>
        <p:spPr>
          <a:xfrm>
            <a:off x="966788" y="2598093"/>
            <a:ext cx="4748213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钥匙扣（纽扣电池）</a:t>
            </a:r>
            <a:r>
              <a:rPr lang="en-US" sz="13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：平均电流 </a:t>
            </a: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0.5-1mA</a:t>
            </a:r>
            <a:r>
              <a:rPr lang="en-US" sz="13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，单颗CR2032供电可工作 </a:t>
            </a: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1-2个月</a:t>
            </a:r>
            <a:endParaRPr lang="en-US" sz="1350" dirty="0"/>
          </a:p>
        </p:txBody>
      </p:sp>
      <p:sp>
        <p:nvSpPr>
          <p:cNvPr id="22" name="SK-8-text-21"/>
          <p:cNvSpPr/>
          <p:nvPr/>
        </p:nvSpPr>
        <p:spPr>
          <a:xfrm>
            <a:off x="966788" y="3299073"/>
            <a:ext cx="4748213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核心优势</a:t>
            </a:r>
            <a:r>
              <a:rPr lang="en-US" sz="13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：ESP32-C3深度睡眠功耗 </a:t>
            </a:r>
            <a:r>
              <a:rPr lang="en-US" sz="13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 10μA</a:t>
            </a:r>
            <a:r>
              <a:rPr lang="en-US" sz="135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，确保系统在非活跃状态下几乎不耗电</a:t>
            </a:r>
            <a:endParaRPr lang="en-US" sz="1350" dirty="0"/>
          </a:p>
        </p:txBody>
      </p:sp>
      <p:sp>
        <p:nvSpPr>
          <p:cNvPr id="23" name="SK-8-text-22"/>
          <p:cNvSpPr/>
          <p:nvPr/>
        </p:nvSpPr>
        <p:spPr>
          <a:xfrm>
            <a:off x="6877050" y="1409551"/>
            <a:ext cx="3200400" cy="2970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340"/>
              </a:lnSpc>
              <a:buNone/>
            </a:pPr>
            <a:r>
              <a:rPr lang="en-US" sz="1800" b="1" dirty="0" err="1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多场景迁移</a:t>
            </a:r>
            <a:r>
              <a:rPr lang="zh-CN" altLang="en-US" sz="18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可能性</a:t>
            </a:r>
            <a:r>
              <a:rPr lang="en-US" sz="1800" b="1" dirty="0" err="1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应用</a:t>
            </a:r>
            <a:endParaRPr lang="en-US" sz="1800" dirty="0"/>
          </a:p>
        </p:txBody>
      </p:sp>
      <p:sp>
        <p:nvSpPr>
          <p:cNvPr id="24" name="SK-8-text-23"/>
          <p:cNvSpPr/>
          <p:nvPr/>
        </p:nvSpPr>
        <p:spPr>
          <a:xfrm>
            <a:off x="6629400" y="2049512"/>
            <a:ext cx="213360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智能停车场</a:t>
            </a:r>
            <a:endParaRPr lang="en-US" sz="1200" dirty="0"/>
          </a:p>
        </p:txBody>
      </p:sp>
      <p:sp>
        <p:nvSpPr>
          <p:cNvPr id="25" name="SK-8-text-24"/>
          <p:cNvSpPr/>
          <p:nvPr/>
        </p:nvSpPr>
        <p:spPr>
          <a:xfrm>
            <a:off x="6629400" y="2319933"/>
            <a:ext cx="2133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车辆进入/离开检测，自动记录车位占用状态</a:t>
            </a:r>
            <a:endParaRPr lang="en-US" sz="1050" dirty="0"/>
          </a:p>
        </p:txBody>
      </p:sp>
      <p:sp>
        <p:nvSpPr>
          <p:cNvPr id="26" name="SK-8-text-25"/>
          <p:cNvSpPr/>
          <p:nvPr/>
        </p:nvSpPr>
        <p:spPr>
          <a:xfrm>
            <a:off x="9220200" y="2049512"/>
            <a:ext cx="213360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zh-CN" altLang="en-US" sz="1200" b="1" dirty="0"/>
              <a:t>乡村自动机器人</a:t>
            </a:r>
            <a:endParaRPr lang="en-US" sz="1200" b="1" dirty="0"/>
          </a:p>
        </p:txBody>
      </p:sp>
      <p:sp>
        <p:nvSpPr>
          <p:cNvPr id="27" name="SK-8-text-26"/>
          <p:cNvSpPr/>
          <p:nvPr/>
        </p:nvSpPr>
        <p:spPr>
          <a:xfrm>
            <a:off x="9220200" y="2319933"/>
            <a:ext cx="2133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zh-CN" altLang="en-US" sz="10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如割草机器人，机器狗等的最大巡逻工作范围管理</a:t>
            </a:r>
            <a:endParaRPr lang="en-US" sz="1050" dirty="0"/>
          </a:p>
        </p:txBody>
      </p:sp>
      <p:sp>
        <p:nvSpPr>
          <p:cNvPr id="28" name="SK-8-text-27"/>
          <p:cNvSpPr/>
          <p:nvPr/>
        </p:nvSpPr>
        <p:spPr>
          <a:xfrm>
            <a:off x="6629400" y="4358432"/>
            <a:ext cx="213360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工地安全</a:t>
            </a:r>
            <a:endParaRPr lang="en-US" sz="1200" dirty="0"/>
          </a:p>
        </p:txBody>
      </p:sp>
      <p:sp>
        <p:nvSpPr>
          <p:cNvPr id="29" name="SK-8-text-28"/>
          <p:cNvSpPr/>
          <p:nvPr/>
        </p:nvSpPr>
        <p:spPr>
          <a:xfrm>
            <a:off x="6629400" y="4628852"/>
            <a:ext cx="2133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工人进入危险区域实时告警，预防安全事故</a:t>
            </a:r>
            <a:endParaRPr lang="en-US" sz="1050" dirty="0"/>
          </a:p>
        </p:txBody>
      </p:sp>
      <p:sp>
        <p:nvSpPr>
          <p:cNvPr id="30" name="SK-8-text-29"/>
          <p:cNvSpPr/>
          <p:nvPr/>
        </p:nvSpPr>
        <p:spPr>
          <a:xfrm>
            <a:off x="9220200" y="4358432"/>
            <a:ext cx="213360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校园/养老院</a:t>
            </a:r>
            <a:endParaRPr lang="en-US" sz="1200" dirty="0"/>
          </a:p>
        </p:txBody>
      </p:sp>
      <p:sp>
        <p:nvSpPr>
          <p:cNvPr id="31" name="SK-8-text-30"/>
          <p:cNvSpPr/>
          <p:nvPr/>
        </p:nvSpPr>
        <p:spPr>
          <a:xfrm>
            <a:off x="9220200" y="4628852"/>
            <a:ext cx="2133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学生进出签到、老人离开区域电子围栏监护</a:t>
            </a:r>
            <a:endParaRPr lang="en-US" sz="1050" dirty="0"/>
          </a:p>
        </p:txBody>
      </p:sp>
      <p:sp>
        <p:nvSpPr>
          <p:cNvPr id="32" name="SK-8-text-31"/>
          <p:cNvSpPr/>
          <p:nvPr/>
        </p:nvSpPr>
        <p:spPr>
          <a:xfrm>
            <a:off x="11442650" y="6610350"/>
            <a:ext cx="74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天工 AI 生成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9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71450"/>
            <a:ext cx="11277600" cy="685651"/>
          </a:xfrm>
          <a:prstGeom prst="rect">
            <a:avLst/>
          </a:prstGeom>
        </p:spPr>
      </p:pic>
      <p:pic>
        <p:nvPicPr>
          <p:cNvPr id="5" name="SK-9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999976"/>
            <a:ext cx="5495925" cy="1800225"/>
          </a:xfrm>
          <a:prstGeom prst="rect">
            <a:avLst/>
          </a:prstGeom>
        </p:spPr>
      </p:pic>
      <p:pic>
        <p:nvPicPr>
          <p:cNvPr id="6" name="SK-9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209526"/>
            <a:ext cx="238125" cy="190500"/>
          </a:xfrm>
          <a:prstGeom prst="rect">
            <a:avLst/>
          </a:prstGeom>
        </p:spPr>
      </p:pic>
      <p:pic>
        <p:nvPicPr>
          <p:cNvPr id="7" name="SK-9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581001"/>
            <a:ext cx="166688" cy="137220"/>
          </a:xfrm>
          <a:prstGeom prst="rect">
            <a:avLst/>
          </a:prstGeom>
        </p:spPr>
      </p:pic>
      <p:pic>
        <p:nvPicPr>
          <p:cNvPr id="8" name="SK-9-img-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114401"/>
            <a:ext cx="166688" cy="137220"/>
          </a:xfrm>
          <a:prstGeom prst="rect">
            <a:avLst/>
          </a:prstGeom>
        </p:spPr>
      </p:pic>
      <p:pic>
        <p:nvPicPr>
          <p:cNvPr id="9" name="SK-9-img-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419201"/>
            <a:ext cx="166688" cy="137220"/>
          </a:xfrm>
          <a:prstGeom prst="rect">
            <a:avLst/>
          </a:prstGeom>
        </p:spPr>
      </p:pic>
      <p:pic>
        <p:nvPicPr>
          <p:cNvPr id="10" name="SK-9-img-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999976"/>
            <a:ext cx="5495925" cy="1800225"/>
          </a:xfrm>
          <a:prstGeom prst="rect">
            <a:avLst/>
          </a:prstGeom>
        </p:spPr>
      </p:pic>
      <p:pic>
        <p:nvPicPr>
          <p:cNvPr id="11" name="SK-9-img-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1209526"/>
            <a:ext cx="238125" cy="190500"/>
          </a:xfrm>
          <a:prstGeom prst="rect">
            <a:avLst/>
          </a:prstGeom>
        </p:spPr>
      </p:pic>
      <p:pic>
        <p:nvPicPr>
          <p:cNvPr id="12" name="SK-9-img-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475" y="1581001"/>
            <a:ext cx="166688" cy="137220"/>
          </a:xfrm>
          <a:prstGeom prst="rect">
            <a:avLst/>
          </a:prstGeom>
        </p:spPr>
      </p:pic>
      <p:pic>
        <p:nvPicPr>
          <p:cNvPr id="13" name="SK-9-img-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475" y="2114401"/>
            <a:ext cx="166688" cy="137220"/>
          </a:xfrm>
          <a:prstGeom prst="rect">
            <a:avLst/>
          </a:prstGeom>
        </p:spPr>
      </p:pic>
      <p:pic>
        <p:nvPicPr>
          <p:cNvPr id="14" name="SK-9-img-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475" y="2419201"/>
            <a:ext cx="166688" cy="137220"/>
          </a:xfrm>
          <a:prstGeom prst="rect">
            <a:avLst/>
          </a:prstGeom>
        </p:spPr>
      </p:pic>
      <p:pic>
        <p:nvPicPr>
          <p:cNvPr id="15" name="SK-9-img-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2981176"/>
            <a:ext cx="5495925" cy="3648075"/>
          </a:xfrm>
          <a:prstGeom prst="rect">
            <a:avLst/>
          </a:prstGeom>
        </p:spPr>
      </p:pic>
      <p:pic>
        <p:nvPicPr>
          <p:cNvPr id="16" name="SK-9-img-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190726"/>
            <a:ext cx="238125" cy="190500"/>
          </a:xfrm>
          <a:prstGeom prst="rect">
            <a:avLst/>
          </a:prstGeom>
        </p:spPr>
      </p:pic>
      <p:pic>
        <p:nvPicPr>
          <p:cNvPr id="17" name="SK-9-img-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562201"/>
            <a:ext cx="166688" cy="137220"/>
          </a:xfrm>
          <a:prstGeom prst="rect">
            <a:avLst/>
          </a:prstGeom>
        </p:spPr>
      </p:pic>
      <p:pic>
        <p:nvPicPr>
          <p:cNvPr id="18" name="SK-9-img-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867001"/>
            <a:ext cx="166688" cy="137220"/>
          </a:xfrm>
          <a:prstGeom prst="rect">
            <a:avLst/>
          </a:prstGeom>
        </p:spPr>
      </p:pic>
      <p:pic>
        <p:nvPicPr>
          <p:cNvPr id="19" name="SK-9-img-1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171801"/>
            <a:ext cx="166688" cy="137220"/>
          </a:xfrm>
          <a:prstGeom prst="rect">
            <a:avLst/>
          </a:prstGeom>
        </p:spPr>
      </p:pic>
      <p:pic>
        <p:nvPicPr>
          <p:cNvPr id="20" name="SK-9-img-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8875" y="2981176"/>
            <a:ext cx="5495925" cy="3648075"/>
          </a:xfrm>
          <a:prstGeom prst="rect">
            <a:avLst/>
          </a:prstGeom>
        </p:spPr>
      </p:pic>
      <p:pic>
        <p:nvPicPr>
          <p:cNvPr id="21" name="SK-9-img-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7475" y="3152626"/>
            <a:ext cx="238125" cy="190500"/>
          </a:xfrm>
          <a:prstGeom prst="rect">
            <a:avLst/>
          </a:prstGeom>
        </p:spPr>
      </p:pic>
      <p:pic>
        <p:nvPicPr>
          <p:cNvPr id="22" name="SK-9-img-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7475" y="3495526"/>
            <a:ext cx="5038725" cy="628650"/>
          </a:xfrm>
          <a:prstGeom prst="rect">
            <a:avLst/>
          </a:prstGeom>
        </p:spPr>
      </p:pic>
      <p:pic>
        <p:nvPicPr>
          <p:cNvPr id="23" name="SK-9-img-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67475" y="3495526"/>
            <a:ext cx="1633835" cy="628650"/>
          </a:xfrm>
          <a:prstGeom prst="rect">
            <a:avLst/>
          </a:prstGeom>
        </p:spPr>
      </p:pic>
      <p:pic>
        <p:nvPicPr>
          <p:cNvPr id="24" name="SK-9-img-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01310" y="3495526"/>
            <a:ext cx="2516535" cy="628650"/>
          </a:xfrm>
          <a:prstGeom prst="rect">
            <a:avLst/>
          </a:prstGeom>
        </p:spPr>
      </p:pic>
      <p:pic>
        <p:nvPicPr>
          <p:cNvPr id="25" name="SK-9-img-2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17845" y="3495526"/>
            <a:ext cx="888355" cy="628650"/>
          </a:xfrm>
          <a:prstGeom prst="rect">
            <a:avLst/>
          </a:prstGeom>
        </p:spPr>
      </p:pic>
      <p:pic>
        <p:nvPicPr>
          <p:cNvPr id="26" name="SK-9-img-2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67475" y="4124176"/>
            <a:ext cx="5038725" cy="647700"/>
          </a:xfrm>
          <a:prstGeom prst="rect">
            <a:avLst/>
          </a:prstGeom>
        </p:spPr>
      </p:pic>
      <p:pic>
        <p:nvPicPr>
          <p:cNvPr id="27" name="SK-9-img-2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67475" y="4771876"/>
            <a:ext cx="5038725" cy="647700"/>
          </a:xfrm>
          <a:prstGeom prst="rect">
            <a:avLst/>
          </a:prstGeom>
        </p:spPr>
      </p:pic>
      <p:pic>
        <p:nvPicPr>
          <p:cNvPr id="28" name="SK-9-img-2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67475" y="5419576"/>
            <a:ext cx="5038725" cy="647700"/>
          </a:xfrm>
          <a:prstGeom prst="rect">
            <a:avLst/>
          </a:prstGeom>
        </p:spPr>
      </p:pic>
      <p:pic>
        <p:nvPicPr>
          <p:cNvPr id="29" name="SK-9-img-2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30" name="SK-9-text-29"/>
          <p:cNvSpPr/>
          <p:nvPr/>
        </p:nvSpPr>
        <p:spPr>
          <a:xfrm>
            <a:off x="647700" y="171450"/>
            <a:ext cx="11087100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核心技术亮点与成本控制</a:t>
            </a:r>
            <a:endParaRPr lang="en-US" sz="2550" dirty="0"/>
          </a:p>
        </p:txBody>
      </p:sp>
      <p:sp>
        <p:nvSpPr>
          <p:cNvPr id="31" name="SK-9-text-30"/>
          <p:cNvSpPr/>
          <p:nvPr/>
        </p:nvSpPr>
        <p:spPr>
          <a:xfrm>
            <a:off x="647700" y="617190"/>
            <a:ext cx="11087100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汇总深度睡眠设计、状态机算法及Go中控台等核心技术优势</a:t>
            </a:r>
            <a:endParaRPr lang="en-US" sz="1350" dirty="0"/>
          </a:p>
        </p:txBody>
      </p:sp>
      <p:sp>
        <p:nvSpPr>
          <p:cNvPr id="32" name="SK-9-text-31"/>
          <p:cNvSpPr/>
          <p:nvPr/>
        </p:nvSpPr>
        <p:spPr>
          <a:xfrm>
            <a:off x="1038225" y="1180951"/>
            <a:ext cx="15240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硬件层面</a:t>
            </a:r>
            <a:endParaRPr lang="en-US" sz="1500" dirty="0"/>
          </a:p>
        </p:txBody>
      </p:sp>
      <p:sp>
        <p:nvSpPr>
          <p:cNvPr id="33" name="SK-9-text-32"/>
          <p:cNvSpPr/>
          <p:nvPr/>
        </p:nvSpPr>
        <p:spPr>
          <a:xfrm>
            <a:off x="947737" y="1552426"/>
            <a:ext cx="477678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采用</a:t>
            </a: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ESP32-C3 RISC-V 架构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，集成双模蓝牙与WiFi，兼具性能与成本优势</a:t>
            </a:r>
            <a:endParaRPr lang="en-US" sz="1200" dirty="0"/>
          </a:p>
        </p:txBody>
      </p:sp>
      <p:sp>
        <p:nvSpPr>
          <p:cNvPr id="34" name="SK-9-text-33"/>
          <p:cNvSpPr/>
          <p:nvPr/>
        </p:nvSpPr>
        <p:spPr>
          <a:xfrm>
            <a:off x="947737" y="2085826"/>
            <a:ext cx="7985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超低功耗设计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，深度睡眠电流 &lt; 10μA，大幅延长电池续航</a:t>
            </a:r>
            <a:endParaRPr lang="en-US" sz="1200" dirty="0"/>
          </a:p>
        </p:txBody>
      </p:sp>
      <p:sp>
        <p:nvSpPr>
          <p:cNvPr id="35" name="SK-9-text-34"/>
          <p:cNvSpPr/>
          <p:nvPr/>
        </p:nvSpPr>
        <p:spPr>
          <a:xfrm>
            <a:off x="947737" y="2390626"/>
            <a:ext cx="7376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创新</a:t>
            </a: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太阳能+锂电池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混合供电方案，实现长期免维护部署</a:t>
            </a:r>
            <a:endParaRPr lang="en-US" sz="1200" dirty="0"/>
          </a:p>
        </p:txBody>
      </p:sp>
      <p:sp>
        <p:nvSpPr>
          <p:cNvPr id="36" name="SK-9-text-35"/>
          <p:cNvSpPr/>
          <p:nvPr/>
        </p:nvSpPr>
        <p:spPr>
          <a:xfrm>
            <a:off x="6819900" y="1180951"/>
            <a:ext cx="15240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算法层面</a:t>
            </a:r>
            <a:endParaRPr lang="en-US" sz="1500" dirty="0"/>
          </a:p>
        </p:txBody>
      </p:sp>
      <p:sp>
        <p:nvSpPr>
          <p:cNvPr id="37" name="SK-9-text-36"/>
          <p:cNvSpPr/>
          <p:nvPr/>
        </p:nvSpPr>
        <p:spPr>
          <a:xfrm>
            <a:off x="6729413" y="1552426"/>
            <a:ext cx="477678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三段式状态机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（静止→失重→撞击→静止确认），精准区分摔倒与日常动作</a:t>
            </a:r>
            <a:endParaRPr lang="en-US" sz="1200" dirty="0"/>
          </a:p>
        </p:txBody>
      </p:sp>
      <p:sp>
        <p:nvSpPr>
          <p:cNvPr id="38" name="SK-9-text-37"/>
          <p:cNvSpPr/>
          <p:nvPr/>
        </p:nvSpPr>
        <p:spPr>
          <a:xfrm>
            <a:off x="6729413" y="2085826"/>
            <a:ext cx="54625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引入</a:t>
            </a: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5秒静止确认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机制，有效避免因抖动、快速下蹲等导致的误触发</a:t>
            </a:r>
            <a:endParaRPr lang="en-US" sz="1200" dirty="0"/>
          </a:p>
        </p:txBody>
      </p:sp>
      <p:sp>
        <p:nvSpPr>
          <p:cNvPr id="39" name="SK-9-text-38"/>
          <p:cNvSpPr/>
          <p:nvPr/>
        </p:nvSpPr>
        <p:spPr>
          <a:xfrm>
            <a:off x="6729413" y="2390626"/>
            <a:ext cx="54625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基于RSSI信号强度的</a:t>
            </a: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动态阈值判断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，实现无接触式区域进出监测</a:t>
            </a:r>
            <a:endParaRPr lang="en-US" sz="1200" dirty="0"/>
          </a:p>
        </p:txBody>
      </p:sp>
      <p:sp>
        <p:nvSpPr>
          <p:cNvPr id="40" name="SK-9-text-39"/>
          <p:cNvSpPr/>
          <p:nvPr/>
        </p:nvSpPr>
        <p:spPr>
          <a:xfrm>
            <a:off x="1038225" y="3162151"/>
            <a:ext cx="15240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系统层面</a:t>
            </a:r>
            <a:endParaRPr lang="en-US" sz="1500" dirty="0"/>
          </a:p>
        </p:txBody>
      </p:sp>
      <p:sp>
        <p:nvSpPr>
          <p:cNvPr id="41" name="SK-9-text-40"/>
          <p:cNvSpPr/>
          <p:nvPr/>
        </p:nvSpPr>
        <p:spPr>
          <a:xfrm>
            <a:off x="947737" y="3533626"/>
            <a:ext cx="9144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 </a:t>
            </a: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语言开发实时中控台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，提供统一设备管理与数据可视化界面</a:t>
            </a:r>
            <a:endParaRPr lang="en-US" sz="1200" dirty="0"/>
          </a:p>
        </p:txBody>
      </p:sp>
      <p:sp>
        <p:nvSpPr>
          <p:cNvPr id="42" name="SK-9-text-41"/>
          <p:cNvSpPr/>
          <p:nvPr/>
        </p:nvSpPr>
        <p:spPr>
          <a:xfrm>
            <a:off x="947737" y="3838426"/>
            <a:ext cx="8290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</a:t>
            </a: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多对多蓝牙扫描架构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，系统扩展性强，可灵活增加监测节点</a:t>
            </a:r>
            <a:endParaRPr lang="en-US" sz="1200" dirty="0"/>
          </a:p>
        </p:txBody>
      </p:sp>
      <p:sp>
        <p:nvSpPr>
          <p:cNvPr id="43" name="SK-9-text-42"/>
          <p:cNvSpPr/>
          <p:nvPr/>
        </p:nvSpPr>
        <p:spPr>
          <a:xfrm>
            <a:off x="947737" y="4143226"/>
            <a:ext cx="7680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采用</a:t>
            </a:r>
            <a:r>
              <a:rPr lang="en-US" sz="1200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EEPROM断电存储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，确保历史记录在意外断电时不丢失</a:t>
            </a:r>
            <a:endParaRPr lang="en-US" sz="1200" dirty="0"/>
          </a:p>
        </p:txBody>
      </p:sp>
      <p:sp>
        <p:nvSpPr>
          <p:cNvPr id="44" name="SK-9-text-43"/>
          <p:cNvSpPr/>
          <p:nvPr/>
        </p:nvSpPr>
        <p:spPr>
          <a:xfrm>
            <a:off x="6819900" y="3124051"/>
            <a:ext cx="38100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成本控制与量产可行性</a:t>
            </a:r>
            <a:endParaRPr lang="en-US" sz="1500" dirty="0"/>
          </a:p>
        </p:txBody>
      </p:sp>
      <p:sp>
        <p:nvSpPr>
          <p:cNvPr id="45" name="SK-9-text-44"/>
          <p:cNvSpPr/>
          <p:nvPr/>
        </p:nvSpPr>
        <p:spPr>
          <a:xfrm>
            <a:off x="6619875" y="3495526"/>
            <a:ext cx="1329035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项目版本</a:t>
            </a:r>
            <a:endParaRPr lang="en-US" sz="1200" dirty="0"/>
          </a:p>
        </p:txBody>
      </p:sp>
      <p:sp>
        <p:nvSpPr>
          <p:cNvPr id="46" name="SK-9-text-45"/>
          <p:cNvSpPr/>
          <p:nvPr/>
        </p:nvSpPr>
        <p:spPr>
          <a:xfrm>
            <a:off x="8253710" y="3495526"/>
            <a:ext cx="2211735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核心硬件</a:t>
            </a:r>
            <a:endParaRPr lang="en-US" sz="1200" dirty="0"/>
          </a:p>
        </p:txBody>
      </p:sp>
      <p:sp>
        <p:nvSpPr>
          <p:cNvPr id="47" name="SK-9-text-46"/>
          <p:cNvSpPr/>
          <p:nvPr/>
        </p:nvSpPr>
        <p:spPr>
          <a:xfrm>
            <a:off x="10770245" y="3495526"/>
            <a:ext cx="583555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单件成本</a:t>
            </a:r>
            <a:endParaRPr lang="en-US" sz="1200" dirty="0"/>
          </a:p>
        </p:txBody>
      </p:sp>
      <p:sp>
        <p:nvSpPr>
          <p:cNvPr id="48" name="SK-9-text-47"/>
          <p:cNvSpPr/>
          <p:nvPr/>
        </p:nvSpPr>
        <p:spPr>
          <a:xfrm>
            <a:off x="6619875" y="4124176"/>
            <a:ext cx="1329035" cy="647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摔倒报警器 (WiFi版)</a:t>
            </a:r>
            <a:endParaRPr lang="en-US" sz="1200" dirty="0"/>
          </a:p>
        </p:txBody>
      </p:sp>
      <p:sp>
        <p:nvSpPr>
          <p:cNvPr id="49" name="SK-9-text-48"/>
          <p:cNvSpPr/>
          <p:nvPr/>
        </p:nvSpPr>
        <p:spPr>
          <a:xfrm>
            <a:off x="8253710" y="4124176"/>
            <a:ext cx="2211735" cy="647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ESP32-C3 + MPU6050 + CR2032</a:t>
            </a:r>
            <a:endParaRPr lang="en-US" sz="1200" dirty="0"/>
          </a:p>
        </p:txBody>
      </p:sp>
      <p:sp>
        <p:nvSpPr>
          <p:cNvPr id="50" name="SK-9-text-49"/>
          <p:cNvSpPr/>
          <p:nvPr/>
        </p:nvSpPr>
        <p:spPr>
          <a:xfrm>
            <a:off x="10770245" y="4124176"/>
            <a:ext cx="1041151" cy="647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约 30 元</a:t>
            </a:r>
            <a:endParaRPr lang="en-US" sz="1200" dirty="0"/>
          </a:p>
        </p:txBody>
      </p:sp>
      <p:sp>
        <p:nvSpPr>
          <p:cNvPr id="51" name="SK-9-text-50"/>
          <p:cNvSpPr/>
          <p:nvPr/>
        </p:nvSpPr>
        <p:spPr>
          <a:xfrm>
            <a:off x="6619875" y="4771876"/>
            <a:ext cx="2330618" cy="647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摔倒报警器 (4G版)</a:t>
            </a:r>
            <a:endParaRPr lang="en-US" sz="1200" dirty="0"/>
          </a:p>
        </p:txBody>
      </p:sp>
      <p:sp>
        <p:nvSpPr>
          <p:cNvPr id="52" name="SK-9-text-51"/>
          <p:cNvSpPr/>
          <p:nvPr/>
        </p:nvSpPr>
        <p:spPr>
          <a:xfrm>
            <a:off x="8253710" y="4771876"/>
            <a:ext cx="2893136" cy="647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WiFi版 + 4G通信模组</a:t>
            </a:r>
            <a:endParaRPr lang="en-US" sz="1200" dirty="0"/>
          </a:p>
        </p:txBody>
      </p:sp>
      <p:sp>
        <p:nvSpPr>
          <p:cNvPr id="53" name="SK-9-text-52"/>
          <p:cNvSpPr/>
          <p:nvPr/>
        </p:nvSpPr>
        <p:spPr>
          <a:xfrm>
            <a:off x="10770245" y="4771876"/>
            <a:ext cx="583555" cy="647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约 130 元</a:t>
            </a:r>
            <a:endParaRPr lang="en-US" sz="1200" dirty="0"/>
          </a:p>
        </p:txBody>
      </p:sp>
      <p:sp>
        <p:nvSpPr>
          <p:cNvPr id="54" name="SK-9-text-53"/>
          <p:cNvSpPr/>
          <p:nvPr/>
        </p:nvSpPr>
        <p:spPr>
          <a:xfrm>
            <a:off x="6619875" y="5419576"/>
            <a:ext cx="1329035" cy="647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太阳能电子围栏 (桩子)</a:t>
            </a:r>
            <a:endParaRPr lang="en-US" sz="1200" dirty="0"/>
          </a:p>
        </p:txBody>
      </p:sp>
      <p:sp>
        <p:nvSpPr>
          <p:cNvPr id="55" name="SK-9-text-54"/>
          <p:cNvSpPr/>
          <p:nvPr/>
        </p:nvSpPr>
        <p:spPr>
          <a:xfrm>
            <a:off x="8253710" y="5419576"/>
            <a:ext cx="2211735" cy="647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ESP32-C3 + 太阳能板 + 18650电池</a:t>
            </a:r>
            <a:endParaRPr lang="en-US" sz="1200" dirty="0"/>
          </a:p>
        </p:txBody>
      </p:sp>
      <p:sp>
        <p:nvSpPr>
          <p:cNvPr id="56" name="SK-9-text-55"/>
          <p:cNvSpPr/>
          <p:nvPr/>
        </p:nvSpPr>
        <p:spPr>
          <a:xfrm>
            <a:off x="10770245" y="5419576"/>
            <a:ext cx="1041151" cy="647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约 80 元</a:t>
            </a:r>
            <a:endParaRPr lang="en-US" sz="1200" dirty="0"/>
          </a:p>
        </p:txBody>
      </p:sp>
      <p:sp>
        <p:nvSpPr>
          <p:cNvPr id="57" name="SK-9-text-56"/>
          <p:cNvSpPr/>
          <p:nvPr/>
        </p:nvSpPr>
        <p:spPr>
          <a:xfrm>
            <a:off x="6619875" y="6067276"/>
            <a:ext cx="5572125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注：以上为小批量物料成本估算，规模化生产具备进一步降本空间。</a:t>
            </a:r>
            <a:endParaRPr lang="en-US" sz="1200" dirty="0"/>
          </a:p>
        </p:txBody>
      </p:sp>
      <p:sp>
        <p:nvSpPr>
          <p:cNvPr id="58" name="SK-9-text-57"/>
          <p:cNvSpPr/>
          <p:nvPr/>
        </p:nvSpPr>
        <p:spPr>
          <a:xfrm>
            <a:off x="11442650" y="6610350"/>
            <a:ext cx="74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天工 AI 生成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0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0-img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0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9550"/>
            <a:ext cx="11277600" cy="685651"/>
          </a:xfrm>
          <a:prstGeom prst="rect">
            <a:avLst/>
          </a:prstGeom>
        </p:spPr>
      </p:pic>
      <p:pic>
        <p:nvPicPr>
          <p:cNvPr id="5" name="SK-10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35112"/>
            <a:ext cx="285750" cy="228600"/>
          </a:xfrm>
          <a:prstGeom prst="rect">
            <a:avLst/>
          </a:prstGeom>
        </p:spPr>
      </p:pic>
      <p:pic>
        <p:nvPicPr>
          <p:cNvPr id="6" name="SK-10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79947"/>
            <a:ext cx="11277600" cy="2800350"/>
          </a:xfrm>
          <a:prstGeom prst="rect">
            <a:avLst/>
          </a:prstGeom>
        </p:spPr>
      </p:pic>
      <p:pic>
        <p:nvPicPr>
          <p:cNvPr id="7" name="SK-10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689497"/>
            <a:ext cx="2744391" cy="2381250"/>
          </a:xfrm>
          <a:prstGeom prst="rect">
            <a:avLst/>
          </a:prstGeom>
        </p:spPr>
      </p:pic>
      <p:pic>
        <p:nvPicPr>
          <p:cNvPr id="8" name="SK-10-img-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450" y="1916162"/>
            <a:ext cx="261937" cy="213420"/>
          </a:xfrm>
          <a:prstGeom prst="rect">
            <a:avLst/>
          </a:prstGeom>
        </p:spPr>
      </p:pic>
      <p:pic>
        <p:nvPicPr>
          <p:cNvPr id="9" name="SK-10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450" y="2356247"/>
            <a:ext cx="142875" cy="114300"/>
          </a:xfrm>
          <a:prstGeom prst="rect">
            <a:avLst/>
          </a:prstGeom>
        </p:spPr>
      </p:pic>
      <p:pic>
        <p:nvPicPr>
          <p:cNvPr id="10" name="SK-10-img-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450" y="2908697"/>
            <a:ext cx="142875" cy="114300"/>
          </a:xfrm>
          <a:prstGeom prst="rect">
            <a:avLst/>
          </a:prstGeom>
        </p:spPr>
      </p:pic>
      <p:pic>
        <p:nvPicPr>
          <p:cNvPr id="11" name="SK-10-img-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450" y="3461147"/>
            <a:ext cx="142875" cy="114300"/>
          </a:xfrm>
          <a:prstGeom prst="rect">
            <a:avLst/>
          </a:prstGeom>
        </p:spPr>
      </p:pic>
      <p:pic>
        <p:nvPicPr>
          <p:cNvPr id="12" name="SK-10-img-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2141" y="2746772"/>
            <a:ext cx="333375" cy="266700"/>
          </a:xfrm>
          <a:prstGeom prst="rect">
            <a:avLst/>
          </a:prstGeom>
        </p:spPr>
      </p:pic>
      <p:pic>
        <p:nvPicPr>
          <p:cNvPr id="13" name="SK-10-img-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9366" y="1689497"/>
            <a:ext cx="3293269" cy="2381250"/>
          </a:xfrm>
          <a:prstGeom prst="rect">
            <a:avLst/>
          </a:prstGeom>
        </p:spPr>
      </p:pic>
      <p:pic>
        <p:nvPicPr>
          <p:cNvPr id="14" name="SK-10-img-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8916" y="1916162"/>
            <a:ext cx="261937" cy="213420"/>
          </a:xfrm>
          <a:prstGeom prst="rect">
            <a:avLst/>
          </a:prstGeom>
        </p:spPr>
      </p:pic>
      <p:pic>
        <p:nvPicPr>
          <p:cNvPr id="15" name="SK-10-img-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8916" y="2356247"/>
            <a:ext cx="142875" cy="114300"/>
          </a:xfrm>
          <a:prstGeom prst="rect">
            <a:avLst/>
          </a:prstGeom>
        </p:spPr>
      </p:pic>
      <p:pic>
        <p:nvPicPr>
          <p:cNvPr id="16" name="SK-10-img-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8916" y="2908697"/>
            <a:ext cx="142875" cy="114300"/>
          </a:xfrm>
          <a:prstGeom prst="rect">
            <a:avLst/>
          </a:prstGeom>
        </p:spPr>
      </p:pic>
      <p:pic>
        <p:nvPicPr>
          <p:cNvPr id="17" name="SK-10-img-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8916" y="3461147"/>
            <a:ext cx="142875" cy="114300"/>
          </a:xfrm>
          <a:prstGeom prst="rect">
            <a:avLst/>
          </a:prstGeom>
        </p:spPr>
      </p:pic>
      <p:pic>
        <p:nvPicPr>
          <p:cNvPr id="18" name="SK-10-img-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66484" y="2746772"/>
            <a:ext cx="333375" cy="266700"/>
          </a:xfrm>
          <a:prstGeom prst="rect">
            <a:avLst/>
          </a:prstGeom>
        </p:spPr>
      </p:pic>
      <p:pic>
        <p:nvPicPr>
          <p:cNvPr id="19" name="SK-10-img-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23709" y="1689497"/>
            <a:ext cx="2744391" cy="2381250"/>
          </a:xfrm>
          <a:prstGeom prst="rect">
            <a:avLst/>
          </a:prstGeom>
        </p:spPr>
      </p:pic>
      <p:pic>
        <p:nvPicPr>
          <p:cNvPr id="20" name="SK-10-img-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33259" y="1916162"/>
            <a:ext cx="261937" cy="213420"/>
          </a:xfrm>
          <a:prstGeom prst="rect">
            <a:avLst/>
          </a:prstGeom>
        </p:spPr>
      </p:pic>
      <p:pic>
        <p:nvPicPr>
          <p:cNvPr id="21" name="SK-10-img-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33259" y="2356247"/>
            <a:ext cx="142875" cy="114300"/>
          </a:xfrm>
          <a:prstGeom prst="rect">
            <a:avLst/>
          </a:prstGeom>
        </p:spPr>
      </p:pic>
      <p:pic>
        <p:nvPicPr>
          <p:cNvPr id="22" name="SK-10-img-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33259" y="2908697"/>
            <a:ext cx="142875" cy="114300"/>
          </a:xfrm>
          <a:prstGeom prst="rect">
            <a:avLst/>
          </a:prstGeom>
        </p:spPr>
      </p:pic>
      <p:pic>
        <p:nvPicPr>
          <p:cNvPr id="23" name="SK-10-img-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33259" y="3461147"/>
            <a:ext cx="142875" cy="114300"/>
          </a:xfrm>
          <a:prstGeom prst="rect">
            <a:avLst/>
          </a:prstGeom>
        </p:spPr>
      </p:pic>
      <p:pic>
        <p:nvPicPr>
          <p:cNvPr id="26" name="SK-10-img-2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24038" y="5105102"/>
            <a:ext cx="428625" cy="342900"/>
          </a:xfrm>
          <a:prstGeom prst="rect">
            <a:avLst/>
          </a:prstGeom>
        </p:spPr>
      </p:pic>
      <p:pic>
        <p:nvPicPr>
          <p:cNvPr id="27" name="SK-10-img-2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29138" y="5105102"/>
            <a:ext cx="428625" cy="342900"/>
          </a:xfrm>
          <a:prstGeom prst="rect">
            <a:avLst/>
          </a:prstGeom>
        </p:spPr>
      </p:pic>
      <p:pic>
        <p:nvPicPr>
          <p:cNvPr id="28" name="SK-10-img-2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34238" y="5105102"/>
            <a:ext cx="428625" cy="342900"/>
          </a:xfrm>
          <a:prstGeom prst="rect">
            <a:avLst/>
          </a:prstGeom>
        </p:spPr>
      </p:pic>
      <p:pic>
        <p:nvPicPr>
          <p:cNvPr id="29" name="SK-10-img-2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39338" y="5105102"/>
            <a:ext cx="428625" cy="342900"/>
          </a:xfrm>
          <a:prstGeom prst="rect">
            <a:avLst/>
          </a:prstGeom>
        </p:spPr>
      </p:pic>
      <p:pic>
        <p:nvPicPr>
          <p:cNvPr id="30" name="SK-10-img-2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31" name="SK-10-text-30"/>
          <p:cNvSpPr/>
          <p:nvPr/>
        </p:nvSpPr>
        <p:spPr>
          <a:xfrm>
            <a:off x="647700" y="209550"/>
            <a:ext cx="11087100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n-US" sz="2550" b="1" dirty="0" err="1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系统集成架构与云平台对接能力</a:t>
            </a:r>
            <a:endParaRPr lang="en-US" sz="2550" dirty="0"/>
          </a:p>
        </p:txBody>
      </p:sp>
      <p:sp>
        <p:nvSpPr>
          <p:cNvPr id="32" name="SK-10-text-31"/>
          <p:cNvSpPr/>
          <p:nvPr/>
        </p:nvSpPr>
        <p:spPr>
          <a:xfrm>
            <a:off x="647700" y="655290"/>
            <a:ext cx="11087100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 err="1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展示多模通信方式，无缝对接阿里云等主流物联网云平台</a:t>
            </a:r>
            <a:endParaRPr lang="en-US" sz="1350" dirty="0"/>
          </a:p>
        </p:txBody>
      </p:sp>
      <p:sp>
        <p:nvSpPr>
          <p:cNvPr id="33" name="SK-10-text-32"/>
          <p:cNvSpPr/>
          <p:nvPr/>
        </p:nvSpPr>
        <p:spPr>
          <a:xfrm>
            <a:off x="857250" y="1076176"/>
            <a:ext cx="6934200" cy="3466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统一中控台下的多模通信架构</a:t>
            </a:r>
            <a:endParaRPr lang="en-US" sz="2100" dirty="0"/>
          </a:p>
        </p:txBody>
      </p:sp>
      <p:sp>
        <p:nvSpPr>
          <p:cNvPr id="34" name="SK-10-text-33"/>
          <p:cNvSpPr/>
          <p:nvPr/>
        </p:nvSpPr>
        <p:spPr>
          <a:xfrm>
            <a:off x="1309688" y="1899047"/>
            <a:ext cx="19050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终端设备层</a:t>
            </a:r>
            <a:endParaRPr lang="en-US" sz="1500" dirty="0"/>
          </a:p>
        </p:txBody>
      </p:sp>
      <p:sp>
        <p:nvSpPr>
          <p:cNvPr id="35" name="SK-10-text-34"/>
          <p:cNvSpPr/>
          <p:nvPr/>
        </p:nvSpPr>
        <p:spPr>
          <a:xfrm>
            <a:off x="1171575" y="2299097"/>
            <a:ext cx="208716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智能摔倒报警器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：WiFi实时上报（ESP32-C3 + MPU6050）</a:t>
            </a:r>
            <a:endParaRPr lang="en-US" sz="1200" dirty="0"/>
          </a:p>
        </p:txBody>
      </p:sp>
      <p:sp>
        <p:nvSpPr>
          <p:cNvPr id="36" name="SK-10-text-35"/>
          <p:cNvSpPr/>
          <p:nvPr/>
        </p:nvSpPr>
        <p:spPr>
          <a:xfrm>
            <a:off x="1171575" y="2851547"/>
            <a:ext cx="208716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+4G模组扩展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：无WiFi区域，深度睡眠后唤醒传输</a:t>
            </a:r>
            <a:endParaRPr lang="en-US" sz="1200" dirty="0"/>
          </a:p>
        </p:txBody>
      </p:sp>
      <p:sp>
        <p:nvSpPr>
          <p:cNvPr id="37" name="SK-10-text-36"/>
          <p:cNvSpPr/>
          <p:nvPr/>
        </p:nvSpPr>
        <p:spPr>
          <a:xfrm>
            <a:off x="1171575" y="3403997"/>
            <a:ext cx="208716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太阳能电子围栏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：蓝牙扫描记录，本地存储（ESP32-C3）</a:t>
            </a:r>
            <a:endParaRPr lang="en-US" sz="1200" dirty="0"/>
          </a:p>
        </p:txBody>
      </p:sp>
      <p:sp>
        <p:nvSpPr>
          <p:cNvPr id="38" name="SK-10-text-37"/>
          <p:cNvSpPr/>
          <p:nvPr/>
        </p:nvSpPr>
        <p:spPr>
          <a:xfrm>
            <a:off x="5035153" y="1899047"/>
            <a:ext cx="30480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中控台与通信网关</a:t>
            </a:r>
            <a:endParaRPr lang="en-US" sz="1500" dirty="0"/>
          </a:p>
        </p:txBody>
      </p:sp>
      <p:sp>
        <p:nvSpPr>
          <p:cNvPr id="39" name="SK-10-text-38"/>
          <p:cNvSpPr/>
          <p:nvPr/>
        </p:nvSpPr>
        <p:spPr>
          <a:xfrm>
            <a:off x="4897041" y="2299097"/>
            <a:ext cx="263604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统一数据管理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：Go语言开发，http实时中控台网页</a:t>
            </a:r>
            <a:endParaRPr lang="en-US" sz="1200" dirty="0"/>
          </a:p>
        </p:txBody>
      </p:sp>
      <p:sp>
        <p:nvSpPr>
          <p:cNvPr id="40" name="SK-10-text-39"/>
          <p:cNvSpPr/>
          <p:nvPr/>
        </p:nvSpPr>
        <p:spPr>
          <a:xfrm>
            <a:off x="4897041" y="2851547"/>
            <a:ext cx="263604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多协议适配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：WiFi / 4G / 蓝牙下载，三种通信方式解耦</a:t>
            </a:r>
            <a:endParaRPr lang="en-US" sz="1200" dirty="0"/>
          </a:p>
        </p:txBody>
      </p:sp>
      <p:sp>
        <p:nvSpPr>
          <p:cNvPr id="41" name="SK-10-text-40"/>
          <p:cNvSpPr/>
          <p:nvPr/>
        </p:nvSpPr>
        <p:spPr>
          <a:xfrm>
            <a:off x="4897041" y="3403997"/>
            <a:ext cx="263604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MQTT桥接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：设备与云平台解耦，便于迁移与扩展</a:t>
            </a:r>
            <a:endParaRPr lang="en-US" sz="1200" dirty="0"/>
          </a:p>
        </p:txBody>
      </p:sp>
      <p:sp>
        <p:nvSpPr>
          <p:cNvPr id="42" name="SK-10-text-41"/>
          <p:cNvSpPr/>
          <p:nvPr/>
        </p:nvSpPr>
        <p:spPr>
          <a:xfrm>
            <a:off x="9309497" y="1899047"/>
            <a:ext cx="26670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云端服务与生态</a:t>
            </a:r>
            <a:endParaRPr lang="en-US" sz="1500" dirty="0"/>
          </a:p>
        </p:txBody>
      </p:sp>
      <p:sp>
        <p:nvSpPr>
          <p:cNvPr id="43" name="SK-10-text-42"/>
          <p:cNvSpPr/>
          <p:nvPr/>
        </p:nvSpPr>
        <p:spPr>
          <a:xfrm>
            <a:off x="9171384" y="2299097"/>
            <a:ext cx="208716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设备影子与规则引擎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：状态同步与自动化响应</a:t>
            </a:r>
            <a:endParaRPr lang="en-US" sz="1200" dirty="0"/>
          </a:p>
        </p:txBody>
      </p:sp>
      <p:sp>
        <p:nvSpPr>
          <p:cNvPr id="44" name="SK-10-text-43"/>
          <p:cNvSpPr/>
          <p:nvPr/>
        </p:nvSpPr>
        <p:spPr>
          <a:xfrm>
            <a:off x="9171384" y="2851547"/>
            <a:ext cx="208716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数据可视化与分析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：生成报表，支持决策与告警</a:t>
            </a:r>
            <a:endParaRPr lang="en-US" sz="1200" dirty="0"/>
          </a:p>
        </p:txBody>
      </p:sp>
      <p:sp>
        <p:nvSpPr>
          <p:cNvPr id="45" name="SK-10-text-44"/>
          <p:cNvSpPr/>
          <p:nvPr/>
        </p:nvSpPr>
        <p:spPr>
          <a:xfrm>
            <a:off x="9171384" y="3403997"/>
            <a:ext cx="208716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IFTTT联动</a:t>
            </a: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：触发短信、邮件或其他智能服务</a:t>
            </a:r>
            <a:endParaRPr lang="en-US" sz="1200" dirty="0"/>
          </a:p>
        </p:txBody>
      </p:sp>
      <p:sp>
        <p:nvSpPr>
          <p:cNvPr id="47" name="SK-10-text-46"/>
          <p:cNvSpPr/>
          <p:nvPr/>
        </p:nvSpPr>
        <p:spPr>
          <a:xfrm>
            <a:off x="1652588" y="5543252"/>
            <a:ext cx="164592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 err="1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阿里云IoT</a:t>
            </a:r>
            <a:endParaRPr lang="en-US" sz="1350" dirty="0"/>
          </a:p>
        </p:txBody>
      </p:sp>
      <p:sp>
        <p:nvSpPr>
          <p:cNvPr id="48" name="SK-10-text-47"/>
          <p:cNvSpPr/>
          <p:nvPr/>
        </p:nvSpPr>
        <p:spPr>
          <a:xfrm>
            <a:off x="1447800" y="5895677"/>
            <a:ext cx="11811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 err="1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设备影子</a:t>
            </a:r>
            <a:r>
              <a:rPr lang="en-US" sz="10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r>
              <a:rPr lang="en-US" sz="1050" dirty="0" err="1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规则引擎</a:t>
            </a:r>
            <a:endParaRPr lang="en-US" sz="1050" dirty="0"/>
          </a:p>
        </p:txBody>
      </p:sp>
      <p:sp>
        <p:nvSpPr>
          <p:cNvPr id="49" name="SK-10-text-48"/>
          <p:cNvSpPr/>
          <p:nvPr/>
        </p:nvSpPr>
        <p:spPr>
          <a:xfrm>
            <a:off x="4357688" y="5543252"/>
            <a:ext cx="164592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腾讯云IoT</a:t>
            </a:r>
            <a:endParaRPr lang="en-US" sz="1350" dirty="0"/>
          </a:p>
        </p:txBody>
      </p:sp>
      <p:sp>
        <p:nvSpPr>
          <p:cNvPr id="50" name="SK-10-text-49"/>
          <p:cNvSpPr/>
          <p:nvPr/>
        </p:nvSpPr>
        <p:spPr>
          <a:xfrm>
            <a:off x="4152900" y="5895677"/>
            <a:ext cx="11811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数据开发 · 智能分析</a:t>
            </a:r>
            <a:endParaRPr lang="en-US" sz="1050" dirty="0"/>
          </a:p>
        </p:txBody>
      </p:sp>
      <p:sp>
        <p:nvSpPr>
          <p:cNvPr id="51" name="SK-10-text-50"/>
          <p:cNvSpPr/>
          <p:nvPr/>
        </p:nvSpPr>
        <p:spPr>
          <a:xfrm>
            <a:off x="7191375" y="5543252"/>
            <a:ext cx="10287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华为云</a:t>
            </a:r>
            <a:endParaRPr lang="en-US" sz="1350" dirty="0"/>
          </a:p>
        </p:txBody>
      </p:sp>
      <p:sp>
        <p:nvSpPr>
          <p:cNvPr id="52" name="SK-10-text-51"/>
          <p:cNvSpPr/>
          <p:nvPr/>
        </p:nvSpPr>
        <p:spPr>
          <a:xfrm>
            <a:off x="6657975" y="5895677"/>
            <a:ext cx="15811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OceanConnect · 端云协同</a:t>
            </a:r>
            <a:endParaRPr lang="en-US" sz="1050" dirty="0"/>
          </a:p>
        </p:txBody>
      </p:sp>
      <p:sp>
        <p:nvSpPr>
          <p:cNvPr id="53" name="SK-10-text-52"/>
          <p:cNvSpPr/>
          <p:nvPr/>
        </p:nvSpPr>
        <p:spPr>
          <a:xfrm>
            <a:off x="9615488" y="5543252"/>
            <a:ext cx="246888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MQTT / IFTTT</a:t>
            </a:r>
            <a:endParaRPr lang="en-US" sz="1350" dirty="0"/>
          </a:p>
        </p:txBody>
      </p:sp>
      <p:sp>
        <p:nvSpPr>
          <p:cNvPr id="54" name="SK-10-text-53"/>
          <p:cNvSpPr/>
          <p:nvPr/>
        </p:nvSpPr>
        <p:spPr>
          <a:xfrm>
            <a:off x="9563100" y="5895677"/>
            <a:ext cx="11811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协议标准 · 服务联动</a:t>
            </a:r>
            <a:endParaRPr lang="en-US" sz="1050" dirty="0"/>
          </a:p>
        </p:txBody>
      </p:sp>
      <p:sp>
        <p:nvSpPr>
          <p:cNvPr id="55" name="SK-10-text-54"/>
          <p:cNvSpPr/>
          <p:nvPr/>
        </p:nvSpPr>
        <p:spPr>
          <a:xfrm>
            <a:off x="11442650" y="6610350"/>
            <a:ext cx="74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天工 AI 生成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1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33350"/>
            <a:ext cx="11277600" cy="685651"/>
          </a:xfrm>
          <a:prstGeom prst="rect">
            <a:avLst/>
          </a:prstGeom>
        </p:spPr>
      </p:pic>
      <p:pic>
        <p:nvPicPr>
          <p:cNvPr id="5" name="SK-11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511945"/>
            <a:ext cx="285750" cy="228600"/>
          </a:xfrm>
          <a:prstGeom prst="rect">
            <a:avLst/>
          </a:prstGeom>
        </p:spPr>
      </p:pic>
      <p:pic>
        <p:nvPicPr>
          <p:cNvPr id="6" name="SK-11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894880"/>
            <a:ext cx="5448300" cy="1404938"/>
          </a:xfrm>
          <a:prstGeom prst="rect">
            <a:avLst/>
          </a:prstGeom>
        </p:spPr>
      </p:pic>
      <p:pic>
        <p:nvPicPr>
          <p:cNvPr id="7" name="SK-11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2009180"/>
            <a:ext cx="202406" cy="163711"/>
          </a:xfrm>
          <a:prstGeom prst="rect">
            <a:avLst/>
          </a:prstGeom>
        </p:spPr>
      </p:pic>
      <p:pic>
        <p:nvPicPr>
          <p:cNvPr id="8" name="SK-11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2309217"/>
            <a:ext cx="178594" cy="148828"/>
          </a:xfrm>
          <a:prstGeom prst="rect">
            <a:avLst/>
          </a:prstGeom>
        </p:spPr>
      </p:pic>
      <p:pic>
        <p:nvPicPr>
          <p:cNvPr id="9" name="SK-11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376017"/>
            <a:ext cx="5448300" cy="1404938"/>
          </a:xfrm>
          <a:prstGeom prst="rect">
            <a:avLst/>
          </a:prstGeom>
        </p:spPr>
      </p:pic>
      <p:pic>
        <p:nvPicPr>
          <p:cNvPr id="10" name="SK-11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3490317"/>
            <a:ext cx="202406" cy="163711"/>
          </a:xfrm>
          <a:prstGeom prst="rect">
            <a:avLst/>
          </a:prstGeom>
        </p:spPr>
      </p:pic>
      <p:pic>
        <p:nvPicPr>
          <p:cNvPr id="11" name="SK-11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3790355"/>
            <a:ext cx="178594" cy="148828"/>
          </a:xfrm>
          <a:prstGeom prst="rect">
            <a:avLst/>
          </a:prstGeom>
        </p:spPr>
      </p:pic>
      <p:pic>
        <p:nvPicPr>
          <p:cNvPr id="12" name="SK-11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4857155"/>
            <a:ext cx="5448300" cy="1176338"/>
          </a:xfrm>
          <a:prstGeom prst="rect">
            <a:avLst/>
          </a:prstGeom>
        </p:spPr>
      </p:pic>
      <p:pic>
        <p:nvPicPr>
          <p:cNvPr id="13" name="SK-11-img-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4971455"/>
            <a:ext cx="202406" cy="163711"/>
          </a:xfrm>
          <a:prstGeom prst="rect">
            <a:avLst/>
          </a:prstGeom>
        </p:spPr>
      </p:pic>
      <p:pic>
        <p:nvPicPr>
          <p:cNvPr id="14" name="SK-11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" y="5271492"/>
            <a:ext cx="178594" cy="148828"/>
          </a:xfrm>
          <a:prstGeom prst="rect">
            <a:avLst/>
          </a:prstGeom>
        </p:spPr>
      </p:pic>
      <p:pic>
        <p:nvPicPr>
          <p:cNvPr id="15" name="SK-11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6500" y="1590526"/>
            <a:ext cx="285750" cy="228600"/>
          </a:xfrm>
          <a:prstGeom prst="rect">
            <a:avLst/>
          </a:prstGeom>
        </p:spPr>
      </p:pic>
      <p:pic>
        <p:nvPicPr>
          <p:cNvPr id="16" name="SK-11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6500" y="1973461"/>
            <a:ext cx="5448300" cy="1428750"/>
          </a:xfrm>
          <a:prstGeom prst="rect">
            <a:avLst/>
          </a:prstGeom>
        </p:spPr>
      </p:pic>
      <p:pic>
        <p:nvPicPr>
          <p:cNvPr id="17" name="SK-11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2108597"/>
            <a:ext cx="226219" cy="186779"/>
          </a:xfrm>
          <a:prstGeom prst="rect">
            <a:avLst/>
          </a:prstGeom>
        </p:spPr>
      </p:pic>
      <p:pic>
        <p:nvPicPr>
          <p:cNvPr id="18" name="SK-11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6500" y="3478411"/>
            <a:ext cx="5448300" cy="1200150"/>
          </a:xfrm>
          <a:prstGeom prst="rect">
            <a:avLst/>
          </a:prstGeom>
        </p:spPr>
      </p:pic>
      <p:pic>
        <p:nvPicPr>
          <p:cNvPr id="19" name="SK-11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3613547"/>
            <a:ext cx="226219" cy="186779"/>
          </a:xfrm>
          <a:prstGeom prst="rect">
            <a:avLst/>
          </a:prstGeom>
        </p:spPr>
      </p:pic>
      <p:pic>
        <p:nvPicPr>
          <p:cNvPr id="20" name="SK-11-img-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86500" y="4754761"/>
            <a:ext cx="5448300" cy="1200150"/>
          </a:xfrm>
          <a:prstGeom prst="rect">
            <a:avLst/>
          </a:prstGeom>
        </p:spPr>
      </p:pic>
      <p:pic>
        <p:nvPicPr>
          <p:cNvPr id="21" name="SK-11-img-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0" y="4889897"/>
            <a:ext cx="226219" cy="186779"/>
          </a:xfrm>
          <a:prstGeom prst="rect">
            <a:avLst/>
          </a:prstGeom>
        </p:spPr>
      </p:pic>
      <p:pic>
        <p:nvPicPr>
          <p:cNvPr id="22" name="SK-11-img-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3" name="SK-11-text-22"/>
          <p:cNvSpPr/>
          <p:nvPr/>
        </p:nvSpPr>
        <p:spPr>
          <a:xfrm>
            <a:off x="647700" y="133350"/>
            <a:ext cx="11087100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关键技术答疑与未来优化方向</a:t>
            </a:r>
            <a:endParaRPr lang="en-US" sz="2550" dirty="0"/>
          </a:p>
        </p:txBody>
      </p:sp>
      <p:sp>
        <p:nvSpPr>
          <p:cNvPr id="24" name="SK-11-text-23"/>
          <p:cNvSpPr/>
          <p:nvPr/>
        </p:nvSpPr>
        <p:spPr>
          <a:xfrm>
            <a:off x="647700" y="579090"/>
            <a:ext cx="11087100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解答高度检测与功耗疑问，规划增加气压传感器与AI识别优化</a:t>
            </a:r>
            <a:endParaRPr lang="en-US" sz="1350" dirty="0"/>
          </a:p>
        </p:txBody>
      </p:sp>
      <p:sp>
        <p:nvSpPr>
          <p:cNvPr id="25" name="SK-11-text-24"/>
          <p:cNvSpPr/>
          <p:nvPr/>
        </p:nvSpPr>
        <p:spPr>
          <a:xfrm>
            <a:off x="838200" y="1453009"/>
            <a:ext cx="3200400" cy="3466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关键技术答疑</a:t>
            </a:r>
            <a:endParaRPr lang="en-US" sz="2100" dirty="0"/>
          </a:p>
        </p:txBody>
      </p:sp>
      <p:sp>
        <p:nvSpPr>
          <p:cNvPr id="26" name="SK-11-text-25"/>
          <p:cNvSpPr/>
          <p:nvPr/>
        </p:nvSpPr>
        <p:spPr>
          <a:xfrm>
            <a:off x="945356" y="1990130"/>
            <a:ext cx="64770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MPU6050不含气压计，如何检测高度变化？</a:t>
            </a:r>
            <a:endParaRPr lang="en-US" sz="1275" dirty="0"/>
          </a:p>
        </p:txBody>
      </p:sp>
      <p:sp>
        <p:nvSpPr>
          <p:cNvPr id="27" name="SK-11-text-26"/>
          <p:cNvSpPr/>
          <p:nvPr/>
        </p:nvSpPr>
        <p:spPr>
          <a:xfrm>
            <a:off x="921544" y="2290167"/>
            <a:ext cx="4793456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当前采用</a:t>
            </a:r>
            <a:r>
              <a:rPr lang="en-US" sz="1125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软件积分法</a:t>
            </a: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，通过加速度数据二次积分推导高度变化。此方法存在累积误差。</a:t>
            </a:r>
            <a:endParaRPr lang="en-US" sz="1125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未来优化：</a:t>
            </a: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可增加</a:t>
            </a:r>
            <a:r>
              <a:rPr lang="en-US" sz="1125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BMP388气压传感器</a:t>
            </a: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，直接测量气压变化，实现</a:t>
            </a:r>
            <a:r>
              <a:rPr lang="en-US" sz="1125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±0.25米</a:t>
            </a: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的精确高度检测，成本增加约20元。</a:t>
            </a:r>
            <a:endParaRPr lang="en-US" sz="1125" dirty="0"/>
          </a:p>
        </p:txBody>
      </p:sp>
      <p:sp>
        <p:nvSpPr>
          <p:cNvPr id="28" name="SK-11-text-27"/>
          <p:cNvSpPr/>
          <p:nvPr/>
        </p:nvSpPr>
        <p:spPr>
          <a:xfrm>
            <a:off x="945356" y="3471267"/>
            <a:ext cx="511683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4G方案功耗高，如何保证长期续航？</a:t>
            </a:r>
            <a:endParaRPr lang="en-US" sz="1275" dirty="0"/>
          </a:p>
        </p:txBody>
      </p:sp>
      <p:sp>
        <p:nvSpPr>
          <p:cNvPr id="29" name="SK-11-text-28"/>
          <p:cNvSpPr/>
          <p:nvPr/>
        </p:nvSpPr>
        <p:spPr>
          <a:xfrm>
            <a:off x="921544" y="3771305"/>
            <a:ext cx="4793456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核心策略是</a:t>
            </a:r>
            <a:r>
              <a:rPr lang="en-US" sz="1125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事件驱动+深度睡眠</a:t>
            </a: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。设备平时处于</a:t>
            </a:r>
            <a:r>
              <a:rPr lang="en-US" sz="1125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深度睡眠模式（&lt;10μA）</a:t>
            </a: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，仅由传感器间歇唤醒进行状态检测。</a:t>
            </a:r>
            <a:endParaRPr lang="en-US" sz="1125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仅在确认摔倒等紧急事件后，才唤醒4G模组进行网络上报，上报完成后立即返回深度睡眠，极大降低平均功耗。</a:t>
            </a:r>
            <a:endParaRPr lang="en-US" sz="1125" dirty="0"/>
          </a:p>
        </p:txBody>
      </p:sp>
      <p:sp>
        <p:nvSpPr>
          <p:cNvPr id="30" name="SK-11-text-29"/>
          <p:cNvSpPr/>
          <p:nvPr/>
        </p:nvSpPr>
        <p:spPr>
          <a:xfrm>
            <a:off x="945356" y="4952405"/>
            <a:ext cx="505206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边缘检测算法如何迁移到其他应用？</a:t>
            </a:r>
            <a:endParaRPr lang="en-US" sz="1275" dirty="0"/>
          </a:p>
        </p:txBody>
      </p:sp>
      <p:sp>
        <p:nvSpPr>
          <p:cNvPr id="31" name="SK-11-text-30"/>
          <p:cNvSpPr/>
          <p:nvPr/>
        </p:nvSpPr>
        <p:spPr>
          <a:xfrm>
            <a:off x="921544" y="5252442"/>
            <a:ext cx="4793456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核心是</a:t>
            </a:r>
            <a:r>
              <a:rPr lang="en-US" sz="1125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RSSI阈值判断逻辑</a:t>
            </a: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</a:t>
            </a:r>
            <a:r>
              <a:rPr lang="en-US" sz="1125" b="1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三段式状态机框架</a:t>
            </a: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。迁移时只需修改目标设备名称、信号强度阈值以及触发后的动作逻辑（如记录、报警、上报），算法主体可复用。</a:t>
            </a:r>
            <a:endParaRPr lang="en-US" sz="1125" dirty="0"/>
          </a:p>
        </p:txBody>
      </p:sp>
      <p:sp>
        <p:nvSpPr>
          <p:cNvPr id="32" name="SK-11-text-31"/>
          <p:cNvSpPr/>
          <p:nvPr/>
        </p:nvSpPr>
        <p:spPr>
          <a:xfrm>
            <a:off x="6667500" y="1531590"/>
            <a:ext cx="3733800" cy="3466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未来优化与扩展</a:t>
            </a:r>
            <a:endParaRPr lang="en-US" sz="2100" dirty="0"/>
          </a:p>
        </p:txBody>
      </p:sp>
      <p:sp>
        <p:nvSpPr>
          <p:cNvPr id="33" name="SK-11-text-32"/>
          <p:cNvSpPr/>
          <p:nvPr/>
        </p:nvSpPr>
        <p:spPr>
          <a:xfrm>
            <a:off x="6798469" y="2068711"/>
            <a:ext cx="4038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项目一：摔倒报警器优化</a:t>
            </a:r>
            <a:endParaRPr lang="en-US" sz="1500" dirty="0"/>
          </a:p>
        </p:txBody>
      </p:sp>
      <p:sp>
        <p:nvSpPr>
          <p:cNvPr id="34" name="SK-11-text-33"/>
          <p:cNvSpPr/>
          <p:nvPr/>
        </p:nvSpPr>
        <p:spPr>
          <a:xfrm>
            <a:off x="6762750" y="2392561"/>
            <a:ext cx="478155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r>
              <a:rPr lang="en-US" sz="1125" b="1" dirty="0">
                <a:solidFill>
                  <a:srgbClr val="636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硬件升级：</a:t>
            </a: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集成BMP388气压计，实现厘米级高度变化感知。</a:t>
            </a:r>
            <a:endParaRPr lang="en-US" sz="1125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r>
              <a:rPr lang="en-US" sz="1125" b="1" dirty="0">
                <a:solidFill>
                  <a:srgbClr val="636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云端集成：</a:t>
            </a: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全面接入阿里云IoT/华为云平台，实现手机App实时推送。</a:t>
            </a:r>
            <a:endParaRPr lang="en-US" sz="1125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r>
              <a:rPr lang="en-US" sz="1125" b="1" dirty="0">
                <a:solidFill>
                  <a:srgbClr val="636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算法进化：</a:t>
            </a: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引入轻量级机器学习模型，优化对缓慢滑倒等复杂场景的识别。</a:t>
            </a:r>
            <a:endParaRPr lang="en-US" sz="1125" dirty="0"/>
          </a:p>
        </p:txBody>
      </p:sp>
      <p:sp>
        <p:nvSpPr>
          <p:cNvPr id="35" name="SK-11-text-34"/>
          <p:cNvSpPr/>
          <p:nvPr/>
        </p:nvSpPr>
        <p:spPr>
          <a:xfrm>
            <a:off x="6798469" y="3573661"/>
            <a:ext cx="365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项目二：电子围栏扩展</a:t>
            </a:r>
            <a:endParaRPr lang="en-US" sz="1500" dirty="0"/>
          </a:p>
        </p:txBody>
      </p:sp>
      <p:sp>
        <p:nvSpPr>
          <p:cNvPr id="36" name="SK-11-text-35"/>
          <p:cNvSpPr/>
          <p:nvPr/>
        </p:nvSpPr>
        <p:spPr>
          <a:xfrm>
            <a:off x="6762750" y="3897511"/>
            <a:ext cx="47815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r>
              <a:rPr lang="en-US" sz="1125" b="1" dirty="0">
                <a:solidFill>
                  <a:srgbClr val="636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通信增强：</a:t>
            </a: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可选配4G模块，实现数据远距离实时回传。</a:t>
            </a:r>
            <a:endParaRPr lang="en-US" sz="1125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r>
              <a:rPr lang="en-US" sz="1125" b="1" dirty="0">
                <a:solidFill>
                  <a:srgbClr val="636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数据可视化：</a:t>
            </a: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开发Web端管理后台，生成人员/车辆出入报表与热力图。</a:t>
            </a:r>
            <a:endParaRPr lang="en-US" sz="1125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r>
              <a:rPr lang="en-US" sz="1125" b="1" dirty="0">
                <a:solidFill>
                  <a:srgbClr val="636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多模态识别：</a:t>
            </a: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与摄像头联动，支持人脸、车牌识别，丰富监测维度。</a:t>
            </a:r>
            <a:endParaRPr lang="en-US" sz="1125" dirty="0"/>
          </a:p>
        </p:txBody>
      </p:sp>
      <p:sp>
        <p:nvSpPr>
          <p:cNvPr id="37" name="SK-11-text-36"/>
          <p:cNvSpPr/>
          <p:nvPr/>
        </p:nvSpPr>
        <p:spPr>
          <a:xfrm>
            <a:off x="6798469" y="4850011"/>
            <a:ext cx="228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系统集成方案</a:t>
            </a:r>
            <a:endParaRPr lang="en-US" sz="1500" dirty="0"/>
          </a:p>
        </p:txBody>
      </p:sp>
      <p:sp>
        <p:nvSpPr>
          <p:cNvPr id="38" name="SK-11-text-37"/>
          <p:cNvSpPr/>
          <p:nvPr/>
        </p:nvSpPr>
        <p:spPr>
          <a:xfrm>
            <a:off x="6762750" y="5173861"/>
            <a:ext cx="47815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采用</a:t>
            </a:r>
            <a:r>
              <a:rPr lang="en-US" sz="1125" b="1" dirty="0">
                <a:solidFill>
                  <a:srgbClr val="636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MQTT协议</a:t>
            </a: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实现设备与平台解耦，提升系统可迁移性。</a:t>
            </a:r>
            <a:endParaRPr lang="en-US" sz="1125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利用云平台</a:t>
            </a:r>
            <a:r>
              <a:rPr lang="en-US" sz="1125" b="1" dirty="0">
                <a:solidFill>
                  <a:srgbClr val="636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设备影子</a:t>
            </a: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</a:t>
            </a:r>
            <a:r>
              <a:rPr lang="en-US" sz="1125" b="1" dirty="0">
                <a:solidFill>
                  <a:srgbClr val="636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规则引擎</a:t>
            </a: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，实现状态同步与自动化告警工作流。</a:t>
            </a:r>
            <a:endParaRPr lang="en-US" sz="1125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构建统一数据中台，对多项目、多设备数据进行汇聚分析与价值挖掘。</a:t>
            </a:r>
            <a:endParaRPr lang="en-US" sz="1125" dirty="0"/>
          </a:p>
        </p:txBody>
      </p:sp>
      <p:sp>
        <p:nvSpPr>
          <p:cNvPr id="39" name="SK-11-text-38"/>
          <p:cNvSpPr/>
          <p:nvPr/>
        </p:nvSpPr>
        <p:spPr>
          <a:xfrm>
            <a:off x="11442650" y="6610350"/>
            <a:ext cx="74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天工 AI 生成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4B7A9F3-0983-F9BD-1855-1EC8D45DB6A2}"/>
              </a:ext>
            </a:extLst>
          </p:cNvPr>
          <p:cNvSpPr txBox="1"/>
          <p:nvPr/>
        </p:nvSpPr>
        <p:spPr>
          <a:xfrm>
            <a:off x="1170278" y="287261"/>
            <a:ext cx="21203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摔倒报警器 接线图</a:t>
            </a:r>
            <a:r>
              <a:rPr lang="zh-CN" altLang="en-US" b="1" i="0" dirty="0">
                <a:solidFill>
                  <a:srgbClr val="F9FAFB"/>
                </a:solidFill>
                <a:effectLst/>
                <a:latin typeface="quote-cjk-patch"/>
              </a:rPr>
              <a:t>摔倒报警器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863FD82-0E81-6A68-0A4D-31741E04DF35}"/>
              </a:ext>
            </a:extLst>
          </p:cNvPr>
          <p:cNvSpPr txBox="1"/>
          <p:nvPr/>
        </p:nvSpPr>
        <p:spPr>
          <a:xfrm>
            <a:off x="8190009" y="287260"/>
            <a:ext cx="21203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围栏桩子接线图</a:t>
            </a:r>
            <a:r>
              <a:rPr lang="zh-CN" altLang="en-US" b="1" i="0" dirty="0">
                <a:solidFill>
                  <a:srgbClr val="F9FAFB"/>
                </a:solidFill>
                <a:effectLst/>
                <a:latin typeface="quote-cjk-patch"/>
              </a:rPr>
              <a:t>摔倒报警器</a:t>
            </a:r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E1F5BDE-A6C1-29B5-A68C-A61D72566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301" y="4340332"/>
            <a:ext cx="3049646" cy="238634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6551C801-8DD1-AA7D-CCAF-6EE0A66AAED3}"/>
              </a:ext>
            </a:extLst>
          </p:cNvPr>
          <p:cNvSpPr txBox="1"/>
          <p:nvPr/>
        </p:nvSpPr>
        <p:spPr>
          <a:xfrm>
            <a:off x="1256522" y="3760009"/>
            <a:ext cx="21203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采集器接线图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43114D3-5D32-8121-CAFC-D6F4AEDC2462}"/>
              </a:ext>
            </a:extLst>
          </p:cNvPr>
          <p:cNvSpPr txBox="1"/>
          <p:nvPr/>
        </p:nvSpPr>
        <p:spPr>
          <a:xfrm>
            <a:off x="7604765" y="3944675"/>
            <a:ext cx="21203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钥匙扣接线图</a:t>
            </a:r>
            <a:endParaRPr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8458478-B950-C068-2B14-248791A3C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18" y="4129341"/>
            <a:ext cx="3817896" cy="2628401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02FE3A59-B374-1259-8DDA-00E8DD186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2249" y="830951"/>
            <a:ext cx="3905411" cy="292905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10A9521-57D6-FDAF-06C2-5F39AECA1D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701" y="610425"/>
            <a:ext cx="4569115" cy="314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882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2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2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76200"/>
            <a:ext cx="11277600" cy="685651"/>
          </a:xfrm>
          <a:prstGeom prst="rect">
            <a:avLst/>
          </a:prstGeom>
        </p:spPr>
      </p:pic>
      <p:pic>
        <p:nvPicPr>
          <p:cNvPr id="5" name="SK-12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819001"/>
            <a:ext cx="11277600" cy="5905649"/>
          </a:xfrm>
          <a:prstGeom prst="rect">
            <a:avLst/>
          </a:prstGeom>
        </p:spPr>
      </p:pic>
      <p:pic>
        <p:nvPicPr>
          <p:cNvPr id="6" name="SK-12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942529"/>
            <a:ext cx="333375" cy="270867"/>
          </a:xfrm>
          <a:prstGeom prst="rect">
            <a:avLst/>
          </a:prstGeom>
        </p:spPr>
      </p:pic>
      <p:pic>
        <p:nvPicPr>
          <p:cNvPr id="7" name="SK-12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1308497"/>
            <a:ext cx="5162550" cy="838200"/>
          </a:xfrm>
          <a:prstGeom prst="rect">
            <a:avLst/>
          </a:prstGeom>
        </p:spPr>
      </p:pic>
      <p:pic>
        <p:nvPicPr>
          <p:cNvPr id="8" name="SK-12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1405533"/>
            <a:ext cx="226219" cy="186779"/>
          </a:xfrm>
          <a:prstGeom prst="rect">
            <a:avLst/>
          </a:prstGeom>
        </p:spPr>
      </p:pic>
      <p:pic>
        <p:nvPicPr>
          <p:cNvPr id="9" name="SK-12-img-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308497"/>
            <a:ext cx="5162550" cy="838200"/>
          </a:xfrm>
          <a:prstGeom prst="rect">
            <a:avLst/>
          </a:prstGeom>
        </p:spPr>
      </p:pic>
      <p:pic>
        <p:nvPicPr>
          <p:cNvPr id="10" name="SK-12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50" y="1405533"/>
            <a:ext cx="226219" cy="186779"/>
          </a:xfrm>
          <a:prstGeom prst="rect">
            <a:avLst/>
          </a:prstGeom>
        </p:spPr>
      </p:pic>
      <p:pic>
        <p:nvPicPr>
          <p:cNvPr id="11" name="SK-12-img-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2203847"/>
            <a:ext cx="5162550" cy="838200"/>
          </a:xfrm>
          <a:prstGeom prst="rect">
            <a:avLst/>
          </a:prstGeom>
        </p:spPr>
      </p:pic>
      <p:pic>
        <p:nvPicPr>
          <p:cNvPr id="12" name="SK-12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8700" y="2300883"/>
            <a:ext cx="226219" cy="186779"/>
          </a:xfrm>
          <a:prstGeom prst="rect">
            <a:avLst/>
          </a:prstGeom>
        </p:spPr>
      </p:pic>
      <p:pic>
        <p:nvPicPr>
          <p:cNvPr id="13" name="SK-12-img-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2203847"/>
            <a:ext cx="5162550" cy="838200"/>
          </a:xfrm>
          <a:prstGeom prst="rect">
            <a:avLst/>
          </a:prstGeom>
        </p:spPr>
      </p:pic>
      <p:pic>
        <p:nvPicPr>
          <p:cNvPr id="14" name="SK-12-img-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1750" y="2300883"/>
            <a:ext cx="226219" cy="186779"/>
          </a:xfrm>
          <a:prstGeom prst="rect">
            <a:avLst/>
          </a:prstGeom>
        </p:spPr>
      </p:pic>
      <p:pic>
        <p:nvPicPr>
          <p:cNvPr id="15" name="SK-12-img-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200" y="3184624"/>
            <a:ext cx="333375" cy="270867"/>
          </a:xfrm>
          <a:prstGeom prst="rect">
            <a:avLst/>
          </a:prstGeom>
        </p:spPr>
      </p:pic>
      <p:pic>
        <p:nvPicPr>
          <p:cNvPr id="16" name="SK-12-img-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200" y="3550593"/>
            <a:ext cx="10515600" cy="1205805"/>
          </a:xfrm>
          <a:prstGeom prst="rect">
            <a:avLst/>
          </a:prstGeom>
        </p:spPr>
      </p:pic>
      <p:pic>
        <p:nvPicPr>
          <p:cNvPr id="17" name="SK-12-img-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6800" y="3924895"/>
            <a:ext cx="571500" cy="457200"/>
          </a:xfrm>
          <a:prstGeom prst="rect">
            <a:avLst/>
          </a:prstGeom>
        </p:spPr>
      </p:pic>
      <p:pic>
        <p:nvPicPr>
          <p:cNvPr id="18" name="SK-12-img-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200" y="4861173"/>
            <a:ext cx="10515600" cy="1219051"/>
          </a:xfrm>
          <a:prstGeom prst="rect">
            <a:avLst/>
          </a:prstGeom>
        </p:spPr>
      </p:pic>
      <p:pic>
        <p:nvPicPr>
          <p:cNvPr id="19" name="SK-12-img-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200" y="4949726"/>
            <a:ext cx="261937" cy="209550"/>
          </a:xfrm>
          <a:prstGeom prst="rect">
            <a:avLst/>
          </a:prstGeom>
        </p:spPr>
      </p:pic>
      <p:pic>
        <p:nvPicPr>
          <p:cNvPr id="20" name="SK-12-img-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1" name="SK-12-text-20"/>
          <p:cNvSpPr/>
          <p:nvPr/>
        </p:nvSpPr>
        <p:spPr>
          <a:xfrm>
            <a:off x="647700" y="76200"/>
            <a:ext cx="11087100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项目开源信息与致谢</a:t>
            </a:r>
            <a:endParaRPr lang="en-US" sz="2550" dirty="0"/>
          </a:p>
        </p:txBody>
      </p:sp>
      <p:sp>
        <p:nvSpPr>
          <p:cNvPr id="22" name="SK-12-text-21"/>
          <p:cNvSpPr/>
          <p:nvPr/>
        </p:nvSpPr>
        <p:spPr>
          <a:xfrm>
            <a:off x="647700" y="521940"/>
            <a:ext cx="11087100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提供开源仓库地址，总结项目成果并致谢。</a:t>
            </a:r>
            <a:endParaRPr lang="en-US" sz="1350" dirty="0"/>
          </a:p>
        </p:txBody>
      </p:sp>
      <p:sp>
        <p:nvSpPr>
          <p:cNvPr id="23" name="SK-12-text-22"/>
          <p:cNvSpPr/>
          <p:nvPr/>
        </p:nvSpPr>
        <p:spPr>
          <a:xfrm>
            <a:off x="1285875" y="904726"/>
            <a:ext cx="10515600" cy="3466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项目成果总结</a:t>
            </a:r>
            <a:endParaRPr lang="en-US" sz="2100" dirty="0"/>
          </a:p>
        </p:txBody>
      </p:sp>
      <p:sp>
        <p:nvSpPr>
          <p:cNvPr id="24" name="SK-12-text-23"/>
          <p:cNvSpPr/>
          <p:nvPr/>
        </p:nvSpPr>
        <p:spPr>
          <a:xfrm>
            <a:off x="1350169" y="1365647"/>
            <a:ext cx="228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共享核心架构</a:t>
            </a:r>
            <a:endParaRPr lang="en-US" sz="1500" dirty="0"/>
          </a:p>
        </p:txBody>
      </p:sp>
      <p:sp>
        <p:nvSpPr>
          <p:cNvPr id="25" name="SK-12-text-24"/>
          <p:cNvSpPr/>
          <p:nvPr/>
        </p:nvSpPr>
        <p:spPr>
          <a:xfrm>
            <a:off x="1028700" y="1660922"/>
            <a:ext cx="478155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基于ESP32-C3 RISC-V芯片，为智能摔倒报警器与太阳能电子围栏提供统一的超低功耗硬件平台，实现深度睡眠电流 &lt; 10μA。</a:t>
            </a:r>
            <a:endParaRPr lang="en-US" sz="1125" dirty="0"/>
          </a:p>
        </p:txBody>
      </p:sp>
      <p:sp>
        <p:nvSpPr>
          <p:cNvPr id="26" name="SK-12-text-25"/>
          <p:cNvSpPr/>
          <p:nvPr/>
        </p:nvSpPr>
        <p:spPr>
          <a:xfrm>
            <a:off x="6703219" y="1365647"/>
            <a:ext cx="228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精准边缘算法</a:t>
            </a:r>
            <a:endParaRPr lang="en-US" sz="1500" dirty="0"/>
          </a:p>
        </p:txBody>
      </p:sp>
      <p:sp>
        <p:nvSpPr>
          <p:cNvPr id="27" name="SK-12-text-26"/>
          <p:cNvSpPr/>
          <p:nvPr/>
        </p:nvSpPr>
        <p:spPr>
          <a:xfrm>
            <a:off x="6381750" y="1660922"/>
            <a:ext cx="478155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三段式状态机实现摔倒95%识别率；蓝牙RSSI阈值判断实现无接触区域进出监测，误报率 &lt; 5%。</a:t>
            </a:r>
            <a:endParaRPr lang="en-US" sz="1125" dirty="0"/>
          </a:p>
        </p:txBody>
      </p:sp>
      <p:sp>
        <p:nvSpPr>
          <p:cNvPr id="28" name="SK-12-text-27"/>
          <p:cNvSpPr/>
          <p:nvPr/>
        </p:nvSpPr>
        <p:spPr>
          <a:xfrm>
            <a:off x="1350169" y="2260997"/>
            <a:ext cx="228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超低功耗供电</a:t>
            </a:r>
            <a:endParaRPr lang="en-US" sz="1500" dirty="0"/>
          </a:p>
        </p:txBody>
      </p:sp>
      <p:sp>
        <p:nvSpPr>
          <p:cNvPr id="29" name="SK-12-text-28"/>
          <p:cNvSpPr/>
          <p:nvPr/>
        </p:nvSpPr>
        <p:spPr>
          <a:xfrm>
            <a:off x="1028700" y="2556272"/>
            <a:ext cx="478155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报警器采用纽扣电池续航数月；电子围栏桩子实现太阳能+18650电池永久续航，平均电流10-15mA。</a:t>
            </a:r>
            <a:endParaRPr lang="en-US" sz="1125" dirty="0"/>
          </a:p>
        </p:txBody>
      </p:sp>
      <p:sp>
        <p:nvSpPr>
          <p:cNvPr id="30" name="SK-12-text-29"/>
          <p:cNvSpPr/>
          <p:nvPr/>
        </p:nvSpPr>
        <p:spPr>
          <a:xfrm>
            <a:off x="6703219" y="2260997"/>
            <a:ext cx="228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云端就绪系统</a:t>
            </a:r>
            <a:endParaRPr lang="en-US" sz="1500" dirty="0"/>
          </a:p>
        </p:txBody>
      </p:sp>
      <p:sp>
        <p:nvSpPr>
          <p:cNvPr id="31" name="SK-12-text-30"/>
          <p:cNvSpPr/>
          <p:nvPr/>
        </p:nvSpPr>
        <p:spPr>
          <a:xfrm>
            <a:off x="6381750" y="2556272"/>
            <a:ext cx="478155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内置Go语言中控台，支持WiFi/4G/蓝牙多模通信，可无缝对接阿里云IoT、腾讯云IoT等主流物联网平台。</a:t>
            </a:r>
            <a:endParaRPr lang="en-US" sz="1125" dirty="0"/>
          </a:p>
        </p:txBody>
      </p:sp>
      <p:sp>
        <p:nvSpPr>
          <p:cNvPr id="32" name="SK-12-text-31"/>
          <p:cNvSpPr/>
          <p:nvPr/>
        </p:nvSpPr>
        <p:spPr>
          <a:xfrm>
            <a:off x="1285875" y="3146822"/>
            <a:ext cx="10515600" cy="3466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项目开源仓库</a:t>
            </a:r>
            <a:endParaRPr lang="en-US" sz="2100" dirty="0"/>
          </a:p>
        </p:txBody>
      </p:sp>
      <p:sp>
        <p:nvSpPr>
          <p:cNvPr id="33" name="SK-12-text-32"/>
          <p:cNvSpPr/>
          <p:nvPr/>
        </p:nvSpPr>
        <p:spPr>
          <a:xfrm>
            <a:off x="1828800" y="3607743"/>
            <a:ext cx="9692640" cy="3199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HackSRepo - 基于ESP32-C3的物联网系统</a:t>
            </a:r>
            <a:endParaRPr lang="en-US" sz="1800" dirty="0"/>
          </a:p>
        </p:txBody>
      </p:sp>
      <p:sp>
        <p:nvSpPr>
          <p:cNvPr id="34" name="SK-12-text-33"/>
          <p:cNvSpPr/>
          <p:nvPr/>
        </p:nvSpPr>
        <p:spPr>
          <a:xfrm>
            <a:off x="1828800" y="3946773"/>
            <a:ext cx="92964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0D94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https://github.com/Re-volution/HackSRepo</a:t>
            </a:r>
            <a:endParaRPr lang="en-US" sz="1350" dirty="0"/>
          </a:p>
        </p:txBody>
      </p:sp>
      <p:sp>
        <p:nvSpPr>
          <p:cNvPr id="35" name="SK-12-text-34"/>
          <p:cNvSpPr/>
          <p:nvPr/>
        </p:nvSpPr>
        <p:spPr>
          <a:xfrm>
            <a:off x="1828800" y="4242048"/>
            <a:ext cx="9296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仓库包含两个项目的完整硬件设计、嵌入式固件源码、Go中控台服务器程序及详细部署文档，遵循MIT开源协议，欢迎Star、Fork与贡献。</a:t>
            </a:r>
            <a:endParaRPr lang="en-US" sz="1200" dirty="0"/>
          </a:p>
        </p:txBody>
      </p:sp>
      <p:sp>
        <p:nvSpPr>
          <p:cNvPr id="36" name="SK-12-text-35"/>
          <p:cNvSpPr/>
          <p:nvPr/>
        </p:nvSpPr>
        <p:spPr>
          <a:xfrm>
            <a:off x="1195388" y="4918323"/>
            <a:ext cx="10515600" cy="2723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致谢</a:t>
            </a:r>
            <a:endParaRPr lang="en-US" sz="1650" dirty="0"/>
          </a:p>
        </p:txBody>
      </p:sp>
      <p:sp>
        <p:nvSpPr>
          <p:cNvPr id="37" name="SK-12-text-36"/>
          <p:cNvSpPr/>
          <p:nvPr/>
        </p:nvSpPr>
        <p:spPr>
          <a:xfrm>
            <a:off x="838200" y="5238304"/>
            <a:ext cx="10515600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 err="1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感谢评审老师与各位</a:t>
            </a:r>
            <a:r>
              <a:rPr lang="zh-CN" altLang="en-US" sz="13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参赛者</a:t>
            </a:r>
            <a:r>
              <a:rPr lang="en-US" sz="1350" dirty="0" err="1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的聆听与宝贵时间</a:t>
            </a:r>
            <a:r>
              <a:rPr lang="en-US" sz="13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350" dirty="0"/>
          </a:p>
        </p:txBody>
      </p:sp>
      <p:sp>
        <p:nvSpPr>
          <p:cNvPr id="38" name="SK-12-text-37"/>
          <p:cNvSpPr/>
          <p:nvPr/>
        </p:nvSpPr>
        <p:spPr>
          <a:xfrm>
            <a:off x="838200" y="5531644"/>
            <a:ext cx="1051560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 err="1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本项目作为嵌入式系统与物联网技术的实践探索，旨在为解决实际</a:t>
            </a:r>
            <a:r>
              <a:rPr lang="zh-CN" altLang="en-US" sz="13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乡村</a:t>
            </a:r>
            <a:r>
              <a:rPr lang="en-US" sz="1350" dirty="0" err="1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社会问题提供低成本、高可靠的技术方案。我们期待朋友们进一步交流，共同推动技术的落地与优化</a:t>
            </a:r>
            <a:r>
              <a:rPr lang="en-US" sz="1350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350" dirty="0"/>
          </a:p>
        </p:txBody>
      </p:sp>
      <p:sp>
        <p:nvSpPr>
          <p:cNvPr id="39" name="SK-12-text-38"/>
          <p:cNvSpPr/>
          <p:nvPr/>
        </p:nvSpPr>
        <p:spPr>
          <a:xfrm>
            <a:off x="838200" y="6368504"/>
            <a:ext cx="10515600" cy="2704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嵌入式系统项目路演 | 九九 | 2026.5.24</a:t>
            </a:r>
            <a:endParaRPr lang="en-US" sz="1200" dirty="0"/>
          </a:p>
        </p:txBody>
      </p:sp>
      <p:sp>
        <p:nvSpPr>
          <p:cNvPr id="40" name="SK-12-text-39"/>
          <p:cNvSpPr/>
          <p:nvPr/>
        </p:nvSpPr>
        <p:spPr>
          <a:xfrm>
            <a:off x="11442650" y="6610350"/>
            <a:ext cx="74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天工 AI 生成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1294</Words>
  <Application>Microsoft Office PowerPoint</Application>
  <PresentationFormat>宽屏</PresentationFormat>
  <Paragraphs>277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Arial</vt:lpstr>
      <vt:lpstr>Noto Sans SC</vt:lpstr>
      <vt:lpstr>quote-cjk-patch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kai li</cp:lastModifiedBy>
  <cp:revision>12</cp:revision>
  <dcterms:created xsi:type="dcterms:W3CDTF">2026-05-22T03:25:01Z</dcterms:created>
  <dcterms:modified xsi:type="dcterms:W3CDTF">2026-05-23T06:38:58Z</dcterms:modified>
</cp:coreProperties>
</file>